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REIN">
    <p:bg>
      <p:bgPr>
        <a:solidFill>
          <a:srgbClr val="F0ED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46520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52645D"/>
                </a:solidFill>
                <a:latin typeface="Cascadia Mono"/>
                <a:ea typeface="Cascadia Mono"/>
                <a:cs typeface="Cascadia Mono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46520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52645D"/>
                </a:solidFill>
                <a:latin typeface="Cascadia Mono"/>
                <a:ea typeface="Cascadia Mono"/>
                <a:cs typeface="Cascadia Mono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58368" y="530352"/>
            <a:ext cx="592531" cy="592531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417320" y="475488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REIN/</a:t>
            </a:r>
            <a:endParaRPr lang="en-US" sz="2800" dirty="0"/>
          </a:p>
        </p:txBody>
      </p:sp>
      <p:sp>
        <p:nvSpPr>
          <p:cNvPr id="4" name="Text 1"/>
          <p:cNvSpPr/>
          <p:nvPr/>
        </p:nvSpPr>
        <p:spPr>
          <a:xfrm>
            <a:off x="694944" y="1490472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70" kern="0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AGENT-INITIATED COMMERCE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658368" y="1856232"/>
            <a:ext cx="685800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Autonomy,</a:t>
            </a:r>
            <a:endParaRPr lang="en-US" sz="4200" dirty="0"/>
          </a:p>
          <a:p>
            <a:pPr indent="0" marL="0">
              <a:buNone/>
            </a:pPr>
            <a:r>
              <a:rPr lang="en-US" sz="42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held to proof.</a:t>
            </a:r>
            <a:endParaRPr lang="en-US" sz="4200" dirty="0"/>
          </a:p>
        </p:txBody>
      </p:sp>
      <p:sp>
        <p:nvSpPr>
          <p:cNvPr id="6" name="Text 3"/>
          <p:cNvSpPr/>
          <p:nvPr/>
        </p:nvSpPr>
        <p:spPr>
          <a:xfrm>
            <a:off x="694944" y="3822192"/>
            <a:ext cx="6492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목표와 예산만 지정하면, 선택·결제·근거 보고서까지 한 번에.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7909560" y="1344168"/>
            <a:ext cx="3429000" cy="4096512"/>
          </a:xfrm>
          <a:prstGeom prst="rect">
            <a:avLst>
              <a:gd name="adj" fmla="val 1067"/>
            </a:avLst>
          </a:prstGeom>
          <a:solidFill>
            <a:srgbClr val="111A16"/>
          </a:solidFill>
          <a:ln w="10160">
            <a:solidFill>
              <a:srgbClr val="111A1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47888" y="1673352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DDEBE5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DEFAULT RUN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11312" y="2011680"/>
            <a:ext cx="2514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0.003</a:t>
            </a:r>
            <a:endParaRPr lang="en-US" sz="3700" dirty="0"/>
          </a:p>
        </p:txBody>
      </p:sp>
      <p:sp>
        <p:nvSpPr>
          <p:cNvPr id="10" name="Text 7"/>
          <p:cNvSpPr/>
          <p:nvPr/>
        </p:nvSpPr>
        <p:spPr>
          <a:xfrm>
            <a:off x="8247888" y="2670048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DDEBE5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TEST USDC HARD CAP</a:t>
            </a:r>
            <a:endParaRPr lang="en-US" sz="750" dirty="0"/>
          </a:p>
        </p:txBody>
      </p:sp>
      <p:sp>
        <p:nvSpPr>
          <p:cNvPr id="11" name="Shape 8"/>
          <p:cNvSpPr/>
          <p:nvPr/>
        </p:nvSpPr>
        <p:spPr>
          <a:xfrm>
            <a:off x="8247888" y="3127248"/>
            <a:ext cx="2697480" cy="0"/>
          </a:xfrm>
          <a:prstGeom prst="line">
            <a:avLst/>
          </a:prstGeom>
          <a:noFill/>
          <a:ln w="8890">
            <a:solidFill>
              <a:srgbClr val="52645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47888" y="3374136"/>
            <a:ext cx="685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02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9006840" y="3502152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DDEBE5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DATA PURCHASES</a:t>
            </a:r>
            <a:endParaRPr lang="en-US" sz="750" dirty="0"/>
          </a:p>
        </p:txBody>
      </p:sp>
      <p:sp>
        <p:nvSpPr>
          <p:cNvPr id="14" name="Text 11"/>
          <p:cNvSpPr/>
          <p:nvPr/>
        </p:nvSpPr>
        <p:spPr>
          <a:xfrm>
            <a:off x="8247888" y="416052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Gemini 3.5 Flash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x402 · Solana Devnet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21792" y="6291072"/>
            <a:ext cx="10927080" cy="0"/>
          </a:xfrm>
          <a:prstGeom prst="line">
            <a:avLst/>
          </a:prstGeom>
          <a:noFill/>
          <a:ln w="7620">
            <a:solidFill>
              <a:srgbClr val="D4DAD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21792" y="6419088"/>
            <a:ext cx="5029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2645D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GCP x SOLANA AI AGENTIC HACKATHON / 2026</a:t>
            </a:r>
            <a:endParaRPr lang="en-US" sz="68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46520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52645D"/>
                </a:solidFill>
                <a:latin typeface="Cascadia Mono"/>
                <a:ea typeface="Cascadia Mono"/>
                <a:cs typeface="Cascadia Mono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66928" y="338328"/>
            <a:ext cx="438912" cy="43891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97280" y="292608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REIN/</a:t>
            </a:r>
            <a:endParaRPr lang="en-US" sz="1700" dirty="0"/>
          </a:p>
        </p:txBody>
      </p:sp>
      <p:sp>
        <p:nvSpPr>
          <p:cNvPr id="4" name="Text 1"/>
          <p:cNvSpPr/>
          <p:nvPr/>
        </p:nvSpPr>
        <p:spPr>
          <a:xfrm>
            <a:off x="621792" y="9418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02 / PROBLEM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621792" y="1197864"/>
            <a:ext cx="10927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AI가 결제할수록, 답변보다 구매 통제가 먼저입니다.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640080" y="1783080"/>
            <a:ext cx="10744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Target: 유료 외부 데이터를 쓰는 리서치·AI 운영팀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621792" y="2130552"/>
            <a:ext cx="10927080" cy="0"/>
          </a:xfrm>
          <a:prstGeom prst="line">
            <a:avLst/>
          </a:prstGeom>
          <a:noFill/>
          <a:ln w="10160">
            <a:solidFill>
              <a:srgbClr val="9AA8A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58368" y="2441448"/>
            <a:ext cx="3456432" cy="2487168"/>
          </a:xfrm>
          <a:prstGeom prst="rect">
            <a:avLst>
              <a:gd name="adj" fmla="val 1471"/>
            </a:avLst>
          </a:prstGeom>
          <a:solidFill>
            <a:srgbClr val="F8F5ED"/>
          </a:solidFill>
          <a:ln w="10160">
            <a:solidFill>
              <a:srgbClr val="9AA8A1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9536" y="2670048"/>
            <a:ext cx="475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01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3145536" y="2706624"/>
            <a:ext cx="658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2645D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WHY</a:t>
            </a:r>
            <a:endParaRPr lang="en-US" sz="700" dirty="0"/>
          </a:p>
        </p:txBody>
      </p:sp>
      <p:sp>
        <p:nvSpPr>
          <p:cNvPr id="11" name="Shape 8"/>
          <p:cNvSpPr/>
          <p:nvPr/>
        </p:nvSpPr>
        <p:spPr>
          <a:xfrm>
            <a:off x="859536" y="3054096"/>
            <a:ext cx="3054096" cy="0"/>
          </a:xfrm>
          <a:prstGeom prst="line">
            <a:avLst/>
          </a:prstGeom>
          <a:noFill/>
          <a:ln w="8890">
            <a:solidFill>
              <a:srgbClr val="D4DAD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59536" y="3300984"/>
            <a:ext cx="2907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이 데이터를 샀는가?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859536" y="4078224"/>
            <a:ext cx="29077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추천 문장만으로는 관련성과 가격을 감사할 수 없습니다.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443984" y="2441448"/>
            <a:ext cx="3456432" cy="2487168"/>
          </a:xfrm>
          <a:prstGeom prst="rect">
            <a:avLst>
              <a:gd name="adj" fmla="val 1471"/>
            </a:avLst>
          </a:prstGeom>
          <a:solidFill>
            <a:srgbClr val="F8F5ED"/>
          </a:solidFill>
          <a:ln w="10160">
            <a:solidFill>
              <a:srgbClr val="9AA8A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645152" y="2670048"/>
            <a:ext cx="475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931152" y="2706624"/>
            <a:ext cx="658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2645D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LIMIT</a:t>
            </a:r>
            <a:endParaRPr lang="en-US" sz="700" dirty="0"/>
          </a:p>
        </p:txBody>
      </p:sp>
      <p:sp>
        <p:nvSpPr>
          <p:cNvPr id="17" name="Shape 14"/>
          <p:cNvSpPr/>
          <p:nvPr/>
        </p:nvSpPr>
        <p:spPr>
          <a:xfrm>
            <a:off x="4645152" y="3054096"/>
            <a:ext cx="3054096" cy="0"/>
          </a:xfrm>
          <a:prstGeom prst="line">
            <a:avLst/>
          </a:prstGeom>
          <a:noFill/>
          <a:ln w="8890">
            <a:solidFill>
              <a:srgbClr val="D4DAD5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645152" y="3300984"/>
            <a:ext cx="2907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상한을 정말 지켰는가?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4645152" y="4078224"/>
            <a:ext cx="29077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 출력만 믿으면 URL·자산·금액이 정책을 벗어날 수 있습니다.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8229600" y="2441448"/>
            <a:ext cx="3456432" cy="2487168"/>
          </a:xfrm>
          <a:prstGeom prst="rect">
            <a:avLst>
              <a:gd name="adj" fmla="val 1471"/>
            </a:avLst>
          </a:prstGeom>
          <a:solidFill>
            <a:srgbClr val="F8F5ED"/>
          </a:solidFill>
          <a:ln w="10160">
            <a:solidFill>
              <a:srgbClr val="B43B2D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430768" y="2670048"/>
            <a:ext cx="475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3B2D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03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10716768" y="2706624"/>
            <a:ext cx="658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2645D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PROOF</a:t>
            </a:r>
            <a:endParaRPr lang="en-US" sz="700" dirty="0"/>
          </a:p>
        </p:txBody>
      </p:sp>
      <p:sp>
        <p:nvSpPr>
          <p:cNvPr id="23" name="Shape 20"/>
          <p:cNvSpPr/>
          <p:nvPr/>
        </p:nvSpPr>
        <p:spPr>
          <a:xfrm>
            <a:off x="8430768" y="3054096"/>
            <a:ext cx="3054096" cy="0"/>
          </a:xfrm>
          <a:prstGeom prst="line">
            <a:avLst/>
          </a:prstGeom>
          <a:noFill/>
          <a:ln w="8890">
            <a:solidFill>
              <a:srgbClr val="D4DAD5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430768" y="3300984"/>
            <a:ext cx="2907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정말 한 번만 결제했는가?</a:t>
            </a:r>
            <a:endParaRPr lang="en-US" sz="1700" dirty="0"/>
          </a:p>
        </p:txBody>
      </p:sp>
      <p:sp>
        <p:nvSpPr>
          <p:cNvPr id="25" name="Text 22"/>
          <p:cNvSpPr/>
          <p:nvPr/>
        </p:nvSpPr>
        <p:spPr>
          <a:xfrm>
            <a:off x="8430768" y="4078224"/>
            <a:ext cx="29077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timeout과 retry는 이중 결제 또는 가짜 완료 표시를 만듭니다.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676656" y="5266944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REIN의 답</a:t>
            </a:r>
            <a:endParaRPr lang="en-US" sz="800" dirty="0"/>
          </a:p>
        </p:txBody>
      </p:sp>
      <p:sp>
        <p:nvSpPr>
          <p:cNvPr id="27" name="Text 24"/>
          <p:cNvSpPr/>
          <p:nvPr/>
        </p:nvSpPr>
        <p:spPr>
          <a:xfrm>
            <a:off x="1965960" y="5166360"/>
            <a:ext cx="9052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선택 이유 + deterministic policy + 공개 영수증을 하나의 run에 묶습니다.</a:t>
            </a:r>
            <a:endParaRPr lang="en-US" sz="1600" dirty="0"/>
          </a:p>
        </p:txBody>
      </p:sp>
      <p:sp>
        <p:nvSpPr>
          <p:cNvPr id="28" name="Shape 25"/>
          <p:cNvSpPr/>
          <p:nvPr/>
        </p:nvSpPr>
        <p:spPr>
          <a:xfrm>
            <a:off x="621792" y="6291072"/>
            <a:ext cx="10927080" cy="0"/>
          </a:xfrm>
          <a:prstGeom prst="line">
            <a:avLst/>
          </a:prstGeom>
          <a:noFill/>
          <a:ln w="7620">
            <a:solidFill>
              <a:srgbClr val="D4DAD5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21792" y="6419088"/>
            <a:ext cx="5029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2645D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GCP x SOLANA AI AGENTIC HACKATHON / 2026</a:t>
            </a:r>
            <a:endParaRPr lang="en-US" sz="68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46520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52645D"/>
                </a:solidFill>
                <a:latin typeface="Cascadia Mono"/>
                <a:ea typeface="Cascadia Mono"/>
                <a:cs typeface="Cascadia Mono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66928" y="338328"/>
            <a:ext cx="438912" cy="43891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97280" y="292608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REIN/</a:t>
            </a:r>
            <a:endParaRPr lang="en-US" sz="1700" dirty="0"/>
          </a:p>
        </p:txBody>
      </p:sp>
      <p:sp>
        <p:nvSpPr>
          <p:cNvPr id="4" name="Text 1"/>
          <p:cNvSpPr/>
          <p:nvPr/>
        </p:nvSpPr>
        <p:spPr>
          <a:xfrm>
            <a:off x="621792" y="9418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03 / PRODUCT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621792" y="1197864"/>
            <a:ext cx="10927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사람은 목표와 상한을 정하고, 에이전트는 조달을 완결합니다.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640080" y="1783080"/>
            <a:ext cx="10744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기본 데모: 0.003 테스트 USDC로 SOL·ETH 시장과 개발 모멘텀 비교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621792" y="2130552"/>
            <a:ext cx="10927080" cy="0"/>
          </a:xfrm>
          <a:prstGeom prst="line">
            <a:avLst/>
          </a:prstGeom>
          <a:noFill/>
          <a:ln w="10160">
            <a:solidFill>
              <a:srgbClr val="9AA8A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371600" y="2514600"/>
            <a:ext cx="347472" cy="347472"/>
          </a:xfrm>
          <a:prstGeom prst="ellipse">
            <a:avLst/>
          </a:prstGeom>
          <a:solidFill>
            <a:srgbClr val="F0EDE4"/>
          </a:solidFill>
          <a:ln w="15240">
            <a:solidFill>
              <a:srgbClr val="08664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01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1792224" y="2688336"/>
            <a:ext cx="1417320" cy="0"/>
          </a:xfrm>
          <a:prstGeom prst="line">
            <a:avLst/>
          </a:prstGeom>
          <a:noFill/>
          <a:ln w="12700">
            <a:solidFill>
              <a:srgbClr val="9AA8A1"/>
            </a:solidFill>
            <a:prstDash val="solid"/>
            <a:tailEnd type="triangle"/>
          </a:ln>
        </p:spPr>
      </p:sp>
      <p:sp>
        <p:nvSpPr>
          <p:cNvPr id="10" name="Text 7"/>
          <p:cNvSpPr/>
          <p:nvPr/>
        </p:nvSpPr>
        <p:spPr>
          <a:xfrm>
            <a:off x="658368" y="310896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GOAL</a:t>
            </a:r>
            <a:endParaRPr lang="en-US" sz="750" dirty="0"/>
          </a:p>
        </p:txBody>
      </p:sp>
      <p:sp>
        <p:nvSpPr>
          <p:cNvPr id="11" name="Text 8"/>
          <p:cNvSpPr/>
          <p:nvPr/>
        </p:nvSpPr>
        <p:spPr>
          <a:xfrm>
            <a:off x="566928" y="3392424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조사 주문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612648" y="3822192"/>
            <a:ext cx="1874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목표 + 3000 atomic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3675888" y="2514600"/>
            <a:ext cx="347472" cy="347472"/>
          </a:xfrm>
          <a:prstGeom prst="ellipse">
            <a:avLst/>
          </a:prstGeom>
          <a:solidFill>
            <a:srgbClr val="F0EDE4"/>
          </a:solidFill>
          <a:ln w="15240">
            <a:solidFill>
              <a:srgbClr val="08664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02</a:t>
            </a:r>
            <a:endParaRPr lang="en-US" sz="700" dirty="0"/>
          </a:p>
        </p:txBody>
      </p:sp>
      <p:sp>
        <p:nvSpPr>
          <p:cNvPr id="14" name="Shape 11"/>
          <p:cNvSpPr/>
          <p:nvPr/>
        </p:nvSpPr>
        <p:spPr>
          <a:xfrm>
            <a:off x="4096512" y="2688336"/>
            <a:ext cx="1417320" cy="0"/>
          </a:xfrm>
          <a:prstGeom prst="line">
            <a:avLst/>
          </a:prstGeom>
          <a:noFill/>
          <a:ln w="12700">
            <a:solidFill>
              <a:srgbClr val="9AA8A1"/>
            </a:solidFill>
            <a:prstDash val="solid"/>
            <a:tailEnd type="triangle"/>
          </a:ln>
        </p:spPr>
      </p:sp>
      <p:sp>
        <p:nvSpPr>
          <p:cNvPr id="15" name="Text 12"/>
          <p:cNvSpPr/>
          <p:nvPr/>
        </p:nvSpPr>
        <p:spPr>
          <a:xfrm>
            <a:off x="2962656" y="310896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SELECT</a:t>
            </a:r>
            <a:endParaRPr lang="en-US" sz="750" dirty="0"/>
          </a:p>
        </p:txBody>
      </p:sp>
      <p:sp>
        <p:nvSpPr>
          <p:cNvPr id="16" name="Text 13"/>
          <p:cNvSpPr/>
          <p:nvPr/>
        </p:nvSpPr>
        <p:spPr>
          <a:xfrm>
            <a:off x="2871216" y="3392424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상품 선택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2916936" y="3822192"/>
            <a:ext cx="1874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Market 1000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GitHub 2000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5980176" y="2514600"/>
            <a:ext cx="347472" cy="347472"/>
          </a:xfrm>
          <a:prstGeom prst="ellipse">
            <a:avLst/>
          </a:prstGeom>
          <a:solidFill>
            <a:srgbClr val="F0EDE4"/>
          </a:solidFill>
          <a:ln w="15240">
            <a:solidFill>
              <a:srgbClr val="08664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03</a:t>
            </a:r>
            <a:endParaRPr lang="en-US" sz="700" dirty="0"/>
          </a:p>
        </p:txBody>
      </p:sp>
      <p:sp>
        <p:nvSpPr>
          <p:cNvPr id="19" name="Shape 16"/>
          <p:cNvSpPr/>
          <p:nvPr/>
        </p:nvSpPr>
        <p:spPr>
          <a:xfrm>
            <a:off x="6400800" y="2688336"/>
            <a:ext cx="1417320" cy="0"/>
          </a:xfrm>
          <a:prstGeom prst="line">
            <a:avLst/>
          </a:prstGeom>
          <a:noFill/>
          <a:ln w="12700">
            <a:solidFill>
              <a:srgbClr val="9AA8A1"/>
            </a:solidFill>
            <a:prstDash val="solid"/>
            <a:tailEnd type="triangle"/>
          </a:ln>
        </p:spPr>
      </p:sp>
      <p:sp>
        <p:nvSpPr>
          <p:cNvPr id="20" name="Text 17"/>
          <p:cNvSpPr/>
          <p:nvPr/>
        </p:nvSpPr>
        <p:spPr>
          <a:xfrm>
            <a:off x="5266944" y="310896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POLICY</a:t>
            </a:r>
            <a:endParaRPr lang="en-US" sz="750" dirty="0"/>
          </a:p>
        </p:txBody>
      </p:sp>
      <p:sp>
        <p:nvSpPr>
          <p:cNvPr id="21" name="Text 18"/>
          <p:cNvSpPr/>
          <p:nvPr/>
        </p:nvSpPr>
        <p:spPr>
          <a:xfrm>
            <a:off x="5175504" y="3392424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서명 전 승인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5221224" y="3822192"/>
            <a:ext cx="1874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URL·mint·금액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상한 재검증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8284464" y="2514600"/>
            <a:ext cx="347472" cy="347472"/>
          </a:xfrm>
          <a:prstGeom prst="ellipse">
            <a:avLst/>
          </a:prstGeom>
          <a:solidFill>
            <a:srgbClr val="F0EDE4"/>
          </a:solidFill>
          <a:ln w="15240">
            <a:solidFill>
              <a:srgbClr val="A86A1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A86A1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04</a:t>
            </a:r>
            <a:endParaRPr lang="en-US" sz="700" dirty="0"/>
          </a:p>
        </p:txBody>
      </p:sp>
      <p:sp>
        <p:nvSpPr>
          <p:cNvPr id="24" name="Shape 21"/>
          <p:cNvSpPr/>
          <p:nvPr/>
        </p:nvSpPr>
        <p:spPr>
          <a:xfrm>
            <a:off x="8705088" y="2688336"/>
            <a:ext cx="1417320" cy="0"/>
          </a:xfrm>
          <a:prstGeom prst="line">
            <a:avLst/>
          </a:prstGeom>
          <a:noFill/>
          <a:ln w="12700">
            <a:solidFill>
              <a:srgbClr val="9AA8A1"/>
            </a:solidFill>
            <a:prstDash val="solid"/>
            <a:tailEnd type="triangle"/>
          </a:ln>
        </p:spPr>
      </p:sp>
      <p:sp>
        <p:nvSpPr>
          <p:cNvPr id="25" name="Text 22"/>
          <p:cNvSpPr/>
          <p:nvPr/>
        </p:nvSpPr>
        <p:spPr>
          <a:xfrm>
            <a:off x="7571232" y="310896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PAY</a:t>
            </a:r>
            <a:endParaRPr lang="en-US" sz="750" dirty="0"/>
          </a:p>
        </p:txBody>
      </p:sp>
      <p:sp>
        <p:nvSpPr>
          <p:cNvPr id="26" name="Text 23"/>
          <p:cNvSpPr/>
          <p:nvPr/>
        </p:nvSpPr>
        <p:spPr>
          <a:xfrm>
            <a:off x="7479792" y="3392424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x402 결제</a:t>
            </a:r>
            <a:endParaRPr lang="en-US" sz="1500" dirty="0"/>
          </a:p>
        </p:txBody>
      </p:sp>
      <p:sp>
        <p:nvSpPr>
          <p:cNvPr id="27" name="Text 24"/>
          <p:cNvSpPr/>
          <p:nvPr/>
        </p:nvSpPr>
        <p:spPr>
          <a:xfrm>
            <a:off x="7525512" y="3822192"/>
            <a:ext cx="1874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Devnet USDC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 transactions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10588752" y="2514600"/>
            <a:ext cx="347472" cy="347472"/>
          </a:xfrm>
          <a:prstGeom prst="ellipse">
            <a:avLst/>
          </a:prstGeom>
          <a:solidFill>
            <a:srgbClr val="F0EDE4"/>
          </a:solidFill>
          <a:ln w="15240">
            <a:solidFill>
              <a:srgbClr val="08664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05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9875520" y="310896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PROVE</a:t>
            </a:r>
            <a:endParaRPr lang="en-US" sz="750" dirty="0"/>
          </a:p>
        </p:txBody>
      </p:sp>
      <p:sp>
        <p:nvSpPr>
          <p:cNvPr id="30" name="Text 27"/>
          <p:cNvSpPr/>
          <p:nvPr/>
        </p:nvSpPr>
        <p:spPr>
          <a:xfrm>
            <a:off x="9784080" y="3392424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근거 보고서</a:t>
            </a:r>
            <a:endParaRPr lang="en-US" sz="1500" dirty="0"/>
          </a:p>
        </p:txBody>
      </p:sp>
      <p:sp>
        <p:nvSpPr>
          <p:cNvPr id="31" name="Text 28"/>
          <p:cNvSpPr/>
          <p:nvPr/>
        </p:nvSpPr>
        <p:spPr>
          <a:xfrm>
            <a:off x="9829800" y="3822192"/>
            <a:ext cx="1874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snapshot + receipt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+ caveat</a:t>
            </a:r>
            <a:endParaRPr lang="en-US" sz="950" dirty="0"/>
          </a:p>
        </p:txBody>
      </p:sp>
      <p:sp>
        <p:nvSpPr>
          <p:cNvPr id="32" name="Shape 29"/>
          <p:cNvSpPr/>
          <p:nvPr/>
        </p:nvSpPr>
        <p:spPr>
          <a:xfrm>
            <a:off x="658368" y="4855464"/>
            <a:ext cx="10863072" cy="713232"/>
          </a:xfrm>
          <a:prstGeom prst="rect">
            <a:avLst>
              <a:gd name="adj" fmla="val 5128"/>
            </a:avLst>
          </a:prstGeom>
          <a:solidFill>
            <a:srgbClr val="DDEBE5"/>
          </a:solidFill>
          <a:ln w="10160">
            <a:solidFill>
              <a:srgbClr val="08664B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896112" y="5074920"/>
            <a:ext cx="1325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MODEL OUTPUT</a:t>
            </a:r>
            <a:endParaRPr lang="en-US" sz="750" dirty="0"/>
          </a:p>
        </p:txBody>
      </p:sp>
      <p:sp>
        <p:nvSpPr>
          <p:cNvPr id="34" name="Text 31"/>
          <p:cNvSpPr/>
          <p:nvPr/>
        </p:nvSpPr>
        <p:spPr>
          <a:xfrm>
            <a:off x="2331720" y="496519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상품 · 관련성 · 가격 · 짧은 선택 이유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6428232" y="5074920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43B2D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NOT EXPOSED</a:t>
            </a:r>
            <a:endParaRPr lang="en-US" sz="750" dirty="0"/>
          </a:p>
        </p:txBody>
      </p:sp>
      <p:sp>
        <p:nvSpPr>
          <p:cNvPr id="36" name="Text 33"/>
          <p:cNvSpPr/>
          <p:nvPr/>
        </p:nvSpPr>
        <p:spPr>
          <a:xfrm>
            <a:off x="7543800" y="496519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3B2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chain-of-thought · key · arbitrary URL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621792" y="6291072"/>
            <a:ext cx="10927080" cy="0"/>
          </a:xfrm>
          <a:prstGeom prst="line">
            <a:avLst/>
          </a:prstGeom>
          <a:noFill/>
          <a:ln w="7620">
            <a:solidFill>
              <a:srgbClr val="D4DAD5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621792" y="6419088"/>
            <a:ext cx="5029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2645D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GCP x SOLANA AI AGENTIC HACKATHON / 2026</a:t>
            </a:r>
            <a:endParaRPr lang="en-US" sz="68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46520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52645D"/>
                </a:solidFill>
                <a:latin typeface="Cascadia Mono"/>
                <a:ea typeface="Cascadia Mono"/>
                <a:cs typeface="Cascadia Mono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66928" y="338328"/>
            <a:ext cx="438912" cy="43891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97280" y="292608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REIN/</a:t>
            </a:r>
            <a:endParaRPr lang="en-US" sz="1700" dirty="0"/>
          </a:p>
        </p:txBody>
      </p:sp>
      <p:sp>
        <p:nvSpPr>
          <p:cNvPr id="4" name="Text 1"/>
          <p:cNvSpPr/>
          <p:nvPr/>
        </p:nvSpPr>
        <p:spPr>
          <a:xfrm>
            <a:off x="621792" y="9418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04 / EXPERIENCE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621792" y="1197864"/>
            <a:ext cx="10927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채팅창 대신, 구매 결정을 읽는 조달 데스크.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640080" y="1783080"/>
            <a:ext cx="10744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Cloud Run live run — Gemini 선택, 정책 승인, Devnet 결제, 영수증을 한 화면에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621792" y="2130552"/>
            <a:ext cx="10927080" cy="0"/>
          </a:xfrm>
          <a:prstGeom prst="line">
            <a:avLst/>
          </a:prstGeom>
          <a:noFill/>
          <a:ln w="10160">
            <a:solidFill>
              <a:srgbClr val="9AA8A1"/>
            </a:solidFill>
            <a:prstDash val="solid"/>
          </a:ln>
        </p:spPr>
      </p:sp>
      <p:pic>
        <p:nvPicPr>
          <p:cNvPr id="8" name="Image 1" descr="C:\PROJECT\구글 클라우드 X 솔라나 AI Agentic 해커톤 지원\artifacts\qa\desktop-live-completed.png">    </p:cNvPr>
          <p:cNvPicPr>
            <a:picLocks noChangeAspect="1"/>
          </p:cNvPicPr>
          <p:nvPr/>
        </p:nvPicPr>
        <p:blipFill>
          <a:blip r:embed="rId3"/>
          <a:srcRect l="0" r="0" t="8916" b="8916"/>
          <a:stretch/>
        </p:blipFill>
        <p:spPr>
          <a:xfrm>
            <a:off x="640080" y="2414016"/>
            <a:ext cx="7498080" cy="3465576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640080" y="2414016"/>
            <a:ext cx="7498080" cy="3465576"/>
          </a:xfrm>
          <a:prstGeom prst="rect">
            <a:avLst/>
          </a:prstGeom>
          <a:solidFill>
            <a:srgbClr val="FFFFFF">
              <a:alpha val="0"/>
            </a:srgbClr>
          </a:solidFill>
          <a:ln w="11430">
            <a:solidFill>
              <a:srgbClr val="111A16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841248" y="2578608"/>
            <a:ext cx="1627632" cy="219456"/>
          </a:xfrm>
          <a:prstGeom prst="rect">
            <a:avLst/>
          </a:prstGeom>
          <a:solidFill>
            <a:srgbClr val="DDEBE5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LIVE / COMPLETED</a:t>
            </a:r>
            <a:endParaRPr lang="en-US" sz="700" dirty="0"/>
          </a:p>
        </p:txBody>
      </p:sp>
      <p:sp>
        <p:nvSpPr>
          <p:cNvPr id="11" name="Text 7"/>
          <p:cNvSpPr/>
          <p:nvPr/>
        </p:nvSpPr>
        <p:spPr>
          <a:xfrm>
            <a:off x="8458200" y="2459736"/>
            <a:ext cx="347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01</a:t>
            </a:r>
            <a:endParaRPr lang="en-US" sz="800" dirty="0"/>
          </a:p>
        </p:txBody>
      </p:sp>
      <p:sp>
        <p:nvSpPr>
          <p:cNvPr id="12" name="Text 8"/>
          <p:cNvSpPr/>
          <p:nvPr/>
        </p:nvSpPr>
        <p:spPr>
          <a:xfrm>
            <a:off x="8887968" y="244144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Timeline first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8458200" y="2788920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2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탐색 → 이유 → 정책 → 결제 → 수령을 같은 축에서 확인</a:t>
            </a:r>
            <a:endParaRPr lang="en-US" sz="920" dirty="0"/>
          </a:p>
        </p:txBody>
      </p:sp>
      <p:sp>
        <p:nvSpPr>
          <p:cNvPr id="14" name="Shape 10"/>
          <p:cNvSpPr/>
          <p:nvPr/>
        </p:nvSpPr>
        <p:spPr>
          <a:xfrm>
            <a:off x="8458200" y="3410712"/>
            <a:ext cx="2761488" cy="0"/>
          </a:xfrm>
          <a:prstGeom prst="line">
            <a:avLst/>
          </a:prstGeom>
          <a:noFill/>
          <a:ln w="7620">
            <a:solidFill>
              <a:srgbClr val="D4DAD5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8458200" y="3575304"/>
            <a:ext cx="347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02</a:t>
            </a:r>
            <a:endParaRPr lang="en-US" sz="800" dirty="0"/>
          </a:p>
        </p:txBody>
      </p:sp>
      <p:sp>
        <p:nvSpPr>
          <p:cNvPr id="16" name="Text 12"/>
          <p:cNvSpPr/>
          <p:nvPr/>
        </p:nvSpPr>
        <p:spPr>
          <a:xfrm>
            <a:off x="8887968" y="3557016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Spend always visible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8458200" y="3904488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2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지출, 남은 상한, 영수증을 decision 옆에 고정</a:t>
            </a:r>
            <a:endParaRPr lang="en-US" sz="920" dirty="0"/>
          </a:p>
        </p:txBody>
      </p:sp>
      <p:sp>
        <p:nvSpPr>
          <p:cNvPr id="18" name="Shape 14"/>
          <p:cNvSpPr/>
          <p:nvPr/>
        </p:nvSpPr>
        <p:spPr>
          <a:xfrm>
            <a:off x="8458200" y="4526280"/>
            <a:ext cx="2761488" cy="0"/>
          </a:xfrm>
          <a:prstGeom prst="line">
            <a:avLst/>
          </a:prstGeom>
          <a:noFill/>
          <a:ln w="7620">
            <a:solidFill>
              <a:srgbClr val="D4DAD5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8458200" y="4690872"/>
            <a:ext cx="347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03</a:t>
            </a:r>
            <a:endParaRPr lang="en-US" sz="800" dirty="0"/>
          </a:p>
        </p:txBody>
      </p:sp>
      <p:sp>
        <p:nvSpPr>
          <p:cNvPr id="20" name="Text 16"/>
          <p:cNvSpPr/>
          <p:nvPr/>
        </p:nvSpPr>
        <p:spPr>
          <a:xfrm>
            <a:off x="8887968" y="4672584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Failure is a state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8458200" y="5020056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2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denied·unavailable·reconciling·timeout을 명시적으로 복구</a:t>
            </a:r>
            <a:endParaRPr lang="en-US" sz="920" dirty="0"/>
          </a:p>
        </p:txBody>
      </p:sp>
      <p:sp>
        <p:nvSpPr>
          <p:cNvPr id="22" name="Shape 18"/>
          <p:cNvSpPr/>
          <p:nvPr/>
        </p:nvSpPr>
        <p:spPr>
          <a:xfrm>
            <a:off x="621792" y="6291072"/>
            <a:ext cx="10927080" cy="0"/>
          </a:xfrm>
          <a:prstGeom prst="line">
            <a:avLst/>
          </a:prstGeom>
          <a:noFill/>
          <a:ln w="7620">
            <a:solidFill>
              <a:srgbClr val="D4DAD5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621792" y="6419088"/>
            <a:ext cx="5029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2645D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GCP x SOLANA AI AGENTIC HACKATHON / 2026</a:t>
            </a:r>
            <a:endParaRPr lang="en-US" sz="68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46520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52645D"/>
                </a:solidFill>
                <a:latin typeface="Cascadia Mono"/>
                <a:ea typeface="Cascadia Mono"/>
                <a:cs typeface="Cascadia Mono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66928" y="338328"/>
            <a:ext cx="438912" cy="43891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97280" y="292608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REIN/</a:t>
            </a:r>
            <a:endParaRPr lang="en-US" sz="1700" dirty="0"/>
          </a:p>
        </p:txBody>
      </p:sp>
      <p:sp>
        <p:nvSpPr>
          <p:cNvPr id="4" name="Text 1"/>
          <p:cNvSpPr/>
          <p:nvPr/>
        </p:nvSpPr>
        <p:spPr>
          <a:xfrm>
            <a:off x="621792" y="9418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05 / ARCHITECTURE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621792" y="1197864"/>
            <a:ext cx="10927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서비스, 세 개의 권한 경계.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640080" y="1783080"/>
            <a:ext cx="10744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Cloud Run이 UI·agent API·paid data API를 소유하고, 키는 Secret Manager에만 존재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621792" y="2130552"/>
            <a:ext cx="10927080" cy="0"/>
          </a:xfrm>
          <a:prstGeom prst="line">
            <a:avLst/>
          </a:prstGeom>
          <a:noFill/>
          <a:ln w="10160">
            <a:solidFill>
              <a:srgbClr val="9AA8A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58368" y="2487168"/>
            <a:ext cx="2980944" cy="2377440"/>
          </a:xfrm>
          <a:prstGeom prst="rect">
            <a:avLst>
              <a:gd name="adj" fmla="val 1538"/>
            </a:avLst>
          </a:prstGeom>
          <a:solidFill>
            <a:srgbClr val="F8F5ED"/>
          </a:solidFill>
          <a:ln w="13970">
            <a:solidFill>
              <a:srgbClr val="08664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68680" y="269748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DECIDE</a:t>
            </a:r>
            <a:endParaRPr lang="en-US" sz="750" dirty="0"/>
          </a:p>
        </p:txBody>
      </p:sp>
      <p:sp>
        <p:nvSpPr>
          <p:cNvPr id="10" name="Text 7"/>
          <p:cNvSpPr/>
          <p:nvPr/>
        </p:nvSpPr>
        <p:spPr>
          <a:xfrm>
            <a:off x="868680" y="2990088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Vertex AI + Google ADK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886968" y="3694176"/>
            <a:ext cx="73152" cy="73152"/>
          </a:xfrm>
          <a:prstGeom prst="ellipse">
            <a:avLst/>
          </a:prstGeom>
          <a:solidFill>
            <a:srgbClr val="08664B"/>
          </a:solidFill>
          <a:ln w="12700">
            <a:solidFill>
              <a:srgbClr val="08664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3611880"/>
            <a:ext cx="2340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gemini-3.5-flash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886968" y="4023360"/>
            <a:ext cx="73152" cy="73152"/>
          </a:xfrm>
          <a:prstGeom prst="ellipse">
            <a:avLst/>
          </a:prstGeom>
          <a:solidFill>
            <a:srgbClr val="08664B"/>
          </a:solidFill>
          <a:ln w="12700">
            <a:solidFill>
              <a:srgbClr val="08664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42416" y="3941064"/>
            <a:ext cx="2340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structured selection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886968" y="4352544"/>
            <a:ext cx="73152" cy="73152"/>
          </a:xfrm>
          <a:prstGeom prst="ellipse">
            <a:avLst/>
          </a:prstGeom>
          <a:solidFill>
            <a:srgbClr val="08664B"/>
          </a:solidFill>
          <a:ln w="12700">
            <a:solidFill>
              <a:srgbClr val="08664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042416" y="4270248"/>
            <a:ext cx="2340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purchased-evidence synthesis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3968496" y="2487168"/>
            <a:ext cx="4233672" cy="2377440"/>
          </a:xfrm>
          <a:prstGeom prst="rect">
            <a:avLst>
              <a:gd name="adj" fmla="val 1538"/>
            </a:avLst>
          </a:prstGeom>
          <a:solidFill>
            <a:srgbClr val="F8F5ED"/>
          </a:solidFill>
          <a:ln w="13970">
            <a:solidFill>
              <a:srgbClr val="111A1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178808" y="2697480"/>
            <a:ext cx="3813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11A16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CONTROL</a:t>
            </a:r>
            <a:endParaRPr lang="en-US" sz="750" dirty="0"/>
          </a:p>
        </p:txBody>
      </p:sp>
      <p:sp>
        <p:nvSpPr>
          <p:cNvPr id="19" name="Text 16"/>
          <p:cNvSpPr/>
          <p:nvPr/>
        </p:nvSpPr>
        <p:spPr>
          <a:xfrm>
            <a:off x="4178808" y="2990088"/>
            <a:ext cx="381304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Next.js policy + Firestore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4197096" y="3694176"/>
            <a:ext cx="73152" cy="73152"/>
          </a:xfrm>
          <a:prstGeom prst="ellipse">
            <a:avLst/>
          </a:prstGeom>
          <a:solidFill>
            <a:srgbClr val="111A16"/>
          </a:solidFill>
          <a:ln w="12700">
            <a:solidFill>
              <a:srgbClr val="111A16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352544" y="3611880"/>
            <a:ext cx="3593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fixed catalog / BigInt limits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4197096" y="4023360"/>
            <a:ext cx="73152" cy="73152"/>
          </a:xfrm>
          <a:prstGeom prst="ellipse">
            <a:avLst/>
          </a:prstGeom>
          <a:solidFill>
            <a:srgbClr val="111A16"/>
          </a:solidFill>
          <a:ln w="12700">
            <a:solidFill>
              <a:srgbClr val="111A16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352544" y="3941064"/>
            <a:ext cx="3593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transactional reservation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4197096" y="4352544"/>
            <a:ext cx="73152" cy="73152"/>
          </a:xfrm>
          <a:prstGeom prst="ellipse">
            <a:avLst/>
          </a:prstGeom>
          <a:solidFill>
            <a:srgbClr val="111A16"/>
          </a:solidFill>
          <a:ln w="12700">
            <a:solidFill>
              <a:srgbClr val="111A16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352544" y="4270248"/>
            <a:ext cx="3593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events · payments · quota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8531352" y="2487168"/>
            <a:ext cx="2999232" cy="2377440"/>
          </a:xfrm>
          <a:prstGeom prst="rect">
            <a:avLst>
              <a:gd name="adj" fmla="val 1538"/>
            </a:avLst>
          </a:prstGeom>
          <a:solidFill>
            <a:srgbClr val="F8F5ED"/>
          </a:solidFill>
          <a:ln w="13970">
            <a:solidFill>
              <a:srgbClr val="A86A1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8741664" y="2697480"/>
            <a:ext cx="2578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86A1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SETTLE</a:t>
            </a:r>
            <a:endParaRPr lang="en-US" sz="750" dirty="0"/>
          </a:p>
        </p:txBody>
      </p:sp>
      <p:sp>
        <p:nvSpPr>
          <p:cNvPr id="28" name="Text 25"/>
          <p:cNvSpPr/>
          <p:nvPr/>
        </p:nvSpPr>
        <p:spPr>
          <a:xfrm>
            <a:off x="8741664" y="2990088"/>
            <a:ext cx="25786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x402 + Solana Devnet</a:t>
            </a:r>
            <a:endParaRPr lang="en-US" sz="1500" dirty="0"/>
          </a:p>
        </p:txBody>
      </p:sp>
      <p:sp>
        <p:nvSpPr>
          <p:cNvPr id="29" name="Shape 26"/>
          <p:cNvSpPr/>
          <p:nvPr/>
        </p:nvSpPr>
        <p:spPr>
          <a:xfrm>
            <a:off x="8759952" y="3694176"/>
            <a:ext cx="73152" cy="73152"/>
          </a:xfrm>
          <a:prstGeom prst="ellipse">
            <a:avLst/>
          </a:prstGeom>
          <a:solidFill>
            <a:srgbClr val="A86A10"/>
          </a:solidFill>
          <a:ln w="12700">
            <a:solidFill>
              <a:srgbClr val="A86A10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915400" y="3611880"/>
            <a:ext cx="2359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buyer + protected seller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8759952" y="4023360"/>
            <a:ext cx="73152" cy="73152"/>
          </a:xfrm>
          <a:prstGeom prst="ellipse">
            <a:avLst/>
          </a:prstGeom>
          <a:solidFill>
            <a:srgbClr val="A86A10"/>
          </a:solidFill>
          <a:ln w="12700">
            <a:solidFill>
              <a:srgbClr val="A86A10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8915400" y="3941064"/>
            <a:ext cx="2359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payment-identifier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8759952" y="4352544"/>
            <a:ext cx="73152" cy="73152"/>
          </a:xfrm>
          <a:prstGeom prst="ellipse">
            <a:avLst/>
          </a:prstGeom>
          <a:solidFill>
            <a:srgbClr val="A86A10"/>
          </a:solidFill>
          <a:ln w="12700">
            <a:solidFill>
              <a:srgbClr val="A86A10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915400" y="4270248"/>
            <a:ext cx="2359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Circle test USDC receipt</a:t>
            </a:r>
            <a:endParaRPr lang="en-US" sz="900" dirty="0"/>
          </a:p>
        </p:txBody>
      </p:sp>
      <p:sp>
        <p:nvSpPr>
          <p:cNvPr id="35" name="Shape 32"/>
          <p:cNvSpPr/>
          <p:nvPr/>
        </p:nvSpPr>
        <p:spPr>
          <a:xfrm>
            <a:off x="3675888" y="3685032"/>
            <a:ext cx="283464" cy="0"/>
          </a:xfrm>
          <a:prstGeom prst="line">
            <a:avLst/>
          </a:prstGeom>
          <a:noFill/>
          <a:ln w="15240">
            <a:solidFill>
              <a:srgbClr val="9AA8A1"/>
            </a:solidFill>
            <a:prstDash val="solid"/>
            <a:tailEnd type="triangle"/>
          </a:ln>
        </p:spPr>
      </p:sp>
      <p:sp>
        <p:nvSpPr>
          <p:cNvPr id="36" name="Shape 33"/>
          <p:cNvSpPr/>
          <p:nvPr/>
        </p:nvSpPr>
        <p:spPr>
          <a:xfrm>
            <a:off x="8220456" y="3685032"/>
            <a:ext cx="283464" cy="0"/>
          </a:xfrm>
          <a:prstGeom prst="line">
            <a:avLst/>
          </a:prstGeom>
          <a:noFill/>
          <a:ln w="15240">
            <a:solidFill>
              <a:srgbClr val="9AA8A1"/>
            </a:solidFill>
            <a:prstDash val="solid"/>
            <a:tailEnd type="triangle"/>
          </a:ln>
        </p:spPr>
      </p:sp>
      <p:sp>
        <p:nvSpPr>
          <p:cNvPr id="37" name="Shape 34"/>
          <p:cNvSpPr/>
          <p:nvPr/>
        </p:nvSpPr>
        <p:spPr>
          <a:xfrm>
            <a:off x="1389888" y="5166360"/>
            <a:ext cx="9418320" cy="530352"/>
          </a:xfrm>
          <a:prstGeom prst="rect">
            <a:avLst>
              <a:gd name="adj" fmla="val 6897"/>
            </a:avLst>
          </a:prstGeom>
          <a:solidFill>
            <a:srgbClr val="DDEBE5"/>
          </a:solidFill>
          <a:ln w="10160">
            <a:solidFill>
              <a:srgbClr val="08664B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1627632" y="5340096"/>
            <a:ext cx="18836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PRE-PAYMENT SNAPSHOT</a:t>
            </a:r>
            <a:endParaRPr lang="en-US" sz="720" dirty="0"/>
          </a:p>
        </p:txBody>
      </p:sp>
      <p:sp>
        <p:nvSpPr>
          <p:cNvPr id="39" name="Text 36"/>
          <p:cNvSpPr/>
          <p:nvPr/>
        </p:nvSpPr>
        <p:spPr>
          <a:xfrm>
            <a:off x="3566160" y="5221224"/>
            <a:ext cx="67482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CoinGecko + GitHub → snapshotId 고정 → 결제 후 동일 payload 반환</a:t>
            </a:r>
            <a:endParaRPr lang="en-US" sz="1150" dirty="0"/>
          </a:p>
        </p:txBody>
      </p:sp>
      <p:sp>
        <p:nvSpPr>
          <p:cNvPr id="40" name="Shape 37"/>
          <p:cNvSpPr/>
          <p:nvPr/>
        </p:nvSpPr>
        <p:spPr>
          <a:xfrm>
            <a:off x="621792" y="6291072"/>
            <a:ext cx="10927080" cy="0"/>
          </a:xfrm>
          <a:prstGeom prst="line">
            <a:avLst/>
          </a:prstGeom>
          <a:noFill/>
          <a:ln w="7620">
            <a:solidFill>
              <a:srgbClr val="D4DAD5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621792" y="6419088"/>
            <a:ext cx="5029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2645D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GCP x SOLANA AI AGENTIC HACKATHON / 2026</a:t>
            </a:r>
            <a:endParaRPr lang="en-US" sz="68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46520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52645D"/>
                </a:solidFill>
                <a:latin typeface="Cascadia Mono"/>
                <a:ea typeface="Cascadia Mono"/>
                <a:cs typeface="Cascadia Mono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66928" y="338328"/>
            <a:ext cx="438912" cy="43891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97280" y="292608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REIN/</a:t>
            </a:r>
            <a:endParaRPr lang="en-US" sz="1700" dirty="0"/>
          </a:p>
        </p:txBody>
      </p:sp>
      <p:sp>
        <p:nvSpPr>
          <p:cNvPr id="4" name="Text 1"/>
          <p:cNvSpPr/>
          <p:nvPr/>
        </p:nvSpPr>
        <p:spPr>
          <a:xfrm>
            <a:off x="621792" y="9418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06 / SAFETY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621792" y="1197864"/>
            <a:ext cx="10927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안전은 프롬프트가 아니라 불변식으로 구현했습니다.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640080" y="1783080"/>
            <a:ext cx="10744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 제안은 hypothesis, 결제 정책은 code-owned contract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621792" y="2130552"/>
            <a:ext cx="10927080" cy="0"/>
          </a:xfrm>
          <a:prstGeom prst="line">
            <a:avLst/>
          </a:prstGeom>
          <a:noFill/>
          <a:ln w="10160">
            <a:solidFill>
              <a:srgbClr val="9AA8A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58368" y="2432304"/>
            <a:ext cx="11247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ALLOWLIST</a:t>
            </a:r>
            <a:endParaRPr lang="en-US" sz="700" dirty="0"/>
          </a:p>
        </p:txBody>
      </p:sp>
      <p:sp>
        <p:nvSpPr>
          <p:cNvPr id="9" name="Text 6"/>
          <p:cNvSpPr/>
          <p:nvPr/>
        </p:nvSpPr>
        <p:spPr>
          <a:xfrm>
            <a:off x="1865376" y="2395728"/>
            <a:ext cx="190195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 products only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1865376" y="2752344"/>
            <a:ext cx="38221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모델은 URL·network·mint·payee·price를 만들 수 없음</a:t>
            </a:r>
            <a:endParaRPr lang="en-US" sz="880" dirty="0"/>
          </a:p>
        </p:txBody>
      </p:sp>
      <p:sp>
        <p:nvSpPr>
          <p:cNvPr id="11" name="Shape 8"/>
          <p:cNvSpPr/>
          <p:nvPr/>
        </p:nvSpPr>
        <p:spPr>
          <a:xfrm>
            <a:off x="658368" y="3255264"/>
            <a:ext cx="5074920" cy="0"/>
          </a:xfrm>
          <a:prstGeom prst="line">
            <a:avLst/>
          </a:prstGeom>
          <a:noFill/>
          <a:ln w="7620">
            <a:solidFill>
              <a:srgbClr val="D4DAD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163056" y="2432304"/>
            <a:ext cx="11247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ATOMIC</a:t>
            </a:r>
            <a:endParaRPr lang="en-US" sz="700" dirty="0"/>
          </a:p>
        </p:txBody>
      </p:sp>
      <p:sp>
        <p:nvSpPr>
          <p:cNvPr id="13" name="Text 10"/>
          <p:cNvSpPr/>
          <p:nvPr/>
        </p:nvSpPr>
        <p:spPr>
          <a:xfrm>
            <a:off x="7370064" y="2395728"/>
            <a:ext cx="190195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BigInt money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7370064" y="2752344"/>
            <a:ext cx="38221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6자리 atomic string, purchase 4000 / run 10000 / daily 250000</a:t>
            </a:r>
            <a:endParaRPr lang="en-US" sz="880" dirty="0"/>
          </a:p>
        </p:txBody>
      </p:sp>
      <p:sp>
        <p:nvSpPr>
          <p:cNvPr id="15" name="Shape 12"/>
          <p:cNvSpPr/>
          <p:nvPr/>
        </p:nvSpPr>
        <p:spPr>
          <a:xfrm>
            <a:off x="6163056" y="3255264"/>
            <a:ext cx="5074920" cy="0"/>
          </a:xfrm>
          <a:prstGeom prst="line">
            <a:avLst/>
          </a:prstGeom>
          <a:noFill/>
          <a:ln w="7620">
            <a:solidFill>
              <a:srgbClr val="D4DAD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58368" y="3483864"/>
            <a:ext cx="11247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IDEMPOTENCY</a:t>
            </a:r>
            <a:endParaRPr lang="en-US" sz="700" dirty="0"/>
          </a:p>
        </p:txBody>
      </p:sp>
      <p:sp>
        <p:nvSpPr>
          <p:cNvPr id="17" name="Text 14"/>
          <p:cNvSpPr/>
          <p:nvPr/>
        </p:nvSpPr>
        <p:spPr>
          <a:xfrm>
            <a:off x="1865376" y="3447288"/>
            <a:ext cx="190195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One payment fingerprint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865376" y="3803904"/>
            <a:ext cx="38221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payment ID가 다른 요청에 재사용되면 transaction에서 거부</a:t>
            </a:r>
            <a:endParaRPr lang="en-US" sz="880" dirty="0"/>
          </a:p>
        </p:txBody>
      </p:sp>
      <p:sp>
        <p:nvSpPr>
          <p:cNvPr id="19" name="Shape 16"/>
          <p:cNvSpPr/>
          <p:nvPr/>
        </p:nvSpPr>
        <p:spPr>
          <a:xfrm>
            <a:off x="658368" y="4306824"/>
            <a:ext cx="5074920" cy="0"/>
          </a:xfrm>
          <a:prstGeom prst="line">
            <a:avLst/>
          </a:prstGeom>
          <a:noFill/>
          <a:ln w="7620">
            <a:solidFill>
              <a:srgbClr val="D4DAD5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163056" y="3483864"/>
            <a:ext cx="11247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A86A1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RECONCILE</a:t>
            </a:r>
            <a:endParaRPr lang="en-US" sz="700" dirty="0"/>
          </a:p>
        </p:txBody>
      </p:sp>
      <p:sp>
        <p:nvSpPr>
          <p:cNvPr id="21" name="Text 18"/>
          <p:cNvSpPr/>
          <p:nvPr/>
        </p:nvSpPr>
        <p:spPr>
          <a:xfrm>
            <a:off x="7370064" y="3447288"/>
            <a:ext cx="190195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No blind retry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7370064" y="3803904"/>
            <a:ext cx="38221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서명 후 상태 불명은 reservation을 유지하고 Explorer 확인</a:t>
            </a:r>
            <a:endParaRPr lang="en-US" sz="880" dirty="0"/>
          </a:p>
        </p:txBody>
      </p:sp>
      <p:sp>
        <p:nvSpPr>
          <p:cNvPr id="23" name="Shape 20"/>
          <p:cNvSpPr/>
          <p:nvPr/>
        </p:nvSpPr>
        <p:spPr>
          <a:xfrm>
            <a:off x="6163056" y="4306824"/>
            <a:ext cx="5074920" cy="0"/>
          </a:xfrm>
          <a:prstGeom prst="line">
            <a:avLst/>
          </a:prstGeom>
          <a:noFill/>
          <a:ln w="7620">
            <a:solidFill>
              <a:srgbClr val="D4DAD5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58368" y="4535424"/>
            <a:ext cx="11247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SECRET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1865376" y="4498848"/>
            <a:ext cx="190195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Server-side signer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1865376" y="4855464"/>
            <a:ext cx="38221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키는 Secret Manager → Cloud Run에만 주입, Gemini·브라우저에는 없음</a:t>
            </a:r>
            <a:endParaRPr lang="en-US" sz="880" dirty="0"/>
          </a:p>
        </p:txBody>
      </p:sp>
      <p:sp>
        <p:nvSpPr>
          <p:cNvPr id="27" name="Shape 24"/>
          <p:cNvSpPr/>
          <p:nvPr/>
        </p:nvSpPr>
        <p:spPr>
          <a:xfrm>
            <a:off x="658368" y="5358384"/>
            <a:ext cx="5074920" cy="0"/>
          </a:xfrm>
          <a:prstGeom prst="line">
            <a:avLst/>
          </a:prstGeom>
          <a:noFill/>
          <a:ln w="7620">
            <a:solidFill>
              <a:srgbClr val="D4DAD5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163056" y="4535424"/>
            <a:ext cx="11247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INJECTION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7370064" y="4498848"/>
            <a:ext cx="190195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Untrusted evidence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7370064" y="4855464"/>
            <a:ext cx="38221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숫자 중심 normalization, catalog/data 안의 지시는 무시</a:t>
            </a:r>
            <a:endParaRPr lang="en-US" sz="880" dirty="0"/>
          </a:p>
        </p:txBody>
      </p:sp>
      <p:sp>
        <p:nvSpPr>
          <p:cNvPr id="31" name="Shape 28"/>
          <p:cNvSpPr/>
          <p:nvPr/>
        </p:nvSpPr>
        <p:spPr>
          <a:xfrm>
            <a:off x="6163056" y="5358384"/>
            <a:ext cx="5074920" cy="0"/>
          </a:xfrm>
          <a:prstGeom prst="line">
            <a:avLst/>
          </a:prstGeom>
          <a:noFill/>
          <a:ln w="7620">
            <a:solidFill>
              <a:srgbClr val="D4DAD5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58368" y="5596128"/>
            <a:ext cx="10863072" cy="411480"/>
          </a:xfrm>
          <a:prstGeom prst="rect">
            <a:avLst>
              <a:gd name="adj" fmla="val 8889"/>
            </a:avLst>
          </a:prstGeom>
          <a:solidFill>
            <a:srgbClr val="F2DDD7"/>
          </a:solidFill>
          <a:ln w="10160">
            <a:solidFill>
              <a:srgbClr val="B43B2D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868680" y="5705856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B43B2D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MVP excludes</a:t>
            </a:r>
            <a:endParaRPr lang="en-US" sz="700" dirty="0"/>
          </a:p>
        </p:txBody>
      </p:sp>
      <p:sp>
        <p:nvSpPr>
          <p:cNvPr id="34" name="Text 31"/>
          <p:cNvSpPr/>
          <p:nvPr/>
        </p:nvSpPr>
        <p:spPr>
          <a:xfrm>
            <a:off x="2057400" y="5641848"/>
            <a:ext cx="9006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43B2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mainnet · real funds · arbitrary seller · login · subscription · multi-agent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621792" y="6291072"/>
            <a:ext cx="10927080" cy="0"/>
          </a:xfrm>
          <a:prstGeom prst="line">
            <a:avLst/>
          </a:prstGeom>
          <a:noFill/>
          <a:ln w="7620">
            <a:solidFill>
              <a:srgbClr val="D4DAD5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621792" y="6419088"/>
            <a:ext cx="5029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2645D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GCP x SOLANA AI AGENTIC HACKATHON / 2026</a:t>
            </a:r>
            <a:endParaRPr lang="en-US" sz="68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46520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52645D"/>
                </a:solidFill>
                <a:latin typeface="Cascadia Mono"/>
                <a:ea typeface="Cascadia Mono"/>
                <a:cs typeface="Cascadia Mono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66928" y="338328"/>
            <a:ext cx="438912" cy="43891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97280" y="292608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REIN/</a:t>
            </a:r>
            <a:endParaRPr lang="en-US" sz="1700" dirty="0"/>
          </a:p>
        </p:txBody>
      </p:sp>
      <p:sp>
        <p:nvSpPr>
          <p:cNvPr id="4" name="Text 1"/>
          <p:cNvSpPr/>
          <p:nvPr/>
        </p:nvSpPr>
        <p:spPr>
          <a:xfrm>
            <a:off x="621792" y="9418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07 / EVIDENCE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621792" y="1197864"/>
            <a:ext cx="10927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두 번의 구매, 두 개의 공개 영수증.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640080" y="1783080"/>
            <a:ext cx="10744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https://rein-vvwpcipqca-du.a.run.app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621792" y="2130552"/>
            <a:ext cx="10927080" cy="0"/>
          </a:xfrm>
          <a:prstGeom prst="line">
            <a:avLst/>
          </a:prstGeom>
          <a:noFill/>
          <a:ln w="10160">
            <a:solidFill>
              <a:srgbClr val="9AA8A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58368" y="2468880"/>
            <a:ext cx="5230368" cy="1207008"/>
          </a:xfrm>
          <a:prstGeom prst="rect">
            <a:avLst>
              <a:gd name="adj" fmla="val 3030"/>
            </a:avLst>
          </a:prstGeom>
          <a:solidFill>
            <a:srgbClr val="F8F5ED"/>
          </a:solidFill>
          <a:ln w="13970">
            <a:solidFill>
              <a:srgbClr val="08664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9536" y="2633472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SETTLED / DEVNET</a:t>
            </a:r>
            <a:endParaRPr lang="en-US" sz="750" dirty="0"/>
          </a:p>
        </p:txBody>
      </p:sp>
      <p:sp>
        <p:nvSpPr>
          <p:cNvPr id="10" name="Text 7"/>
          <p:cNvSpPr/>
          <p:nvPr/>
        </p:nvSpPr>
        <p:spPr>
          <a:xfrm>
            <a:off x="859536" y="2889504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Market snapshot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453128" y="2633472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A16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0.001 USDC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59536" y="3291840"/>
            <a:ext cx="47823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10" dirty="0">
                <a:solidFill>
                  <a:srgbClr val="52645D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NoNGYPThfsy8jx43CvHBeVwXx6Cm5T9eLLNuM2JNEKfBSYnZLveQThxeio9Y7Divs9CEpg6TXFyUrjPBAEpQyrd</a:t>
            </a:r>
            <a:endParaRPr lang="en-US" sz="710" dirty="0"/>
          </a:p>
        </p:txBody>
      </p:sp>
      <p:sp>
        <p:nvSpPr>
          <p:cNvPr id="13" name="Shape 10"/>
          <p:cNvSpPr/>
          <p:nvPr/>
        </p:nvSpPr>
        <p:spPr>
          <a:xfrm>
            <a:off x="6300216" y="2468880"/>
            <a:ext cx="5230368" cy="1207008"/>
          </a:xfrm>
          <a:prstGeom prst="rect">
            <a:avLst>
              <a:gd name="adj" fmla="val 3030"/>
            </a:avLst>
          </a:prstGeom>
          <a:solidFill>
            <a:srgbClr val="F8F5ED"/>
          </a:solidFill>
          <a:ln w="13970">
            <a:solidFill>
              <a:srgbClr val="08664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501384" y="2633472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SETTLED / DEVNET</a:t>
            </a:r>
            <a:endParaRPr lang="en-US" sz="750" dirty="0"/>
          </a:p>
        </p:txBody>
      </p:sp>
      <p:sp>
        <p:nvSpPr>
          <p:cNvPr id="15" name="Text 12"/>
          <p:cNvSpPr/>
          <p:nvPr/>
        </p:nvSpPr>
        <p:spPr>
          <a:xfrm>
            <a:off x="6501384" y="2889504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GitHub health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10094976" y="2633472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A16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0.002 USDC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501384" y="3291840"/>
            <a:ext cx="47823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10" dirty="0">
                <a:solidFill>
                  <a:srgbClr val="52645D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4Pw18BGdsvv7zo9WYsMXi3p5cCxhgrv5H3mNpa9hyyPopuAkDx18r48WcFor6CSEnNukbVCdJpgwPDXKrsAk7cbj</a:t>
            </a:r>
            <a:endParaRPr lang="en-US" sz="710" dirty="0"/>
          </a:p>
        </p:txBody>
      </p:sp>
      <p:sp>
        <p:nvSpPr>
          <p:cNvPr id="18" name="Text 15"/>
          <p:cNvSpPr/>
          <p:nvPr/>
        </p:nvSpPr>
        <p:spPr>
          <a:xfrm>
            <a:off x="676656" y="4041648"/>
            <a:ext cx="2148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LIVE DEVNET EVIDENCE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658368" y="4370832"/>
            <a:ext cx="749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55</a:t>
            </a:r>
            <a:endParaRPr lang="en-US" sz="2700" dirty="0"/>
          </a:p>
        </p:txBody>
      </p:sp>
      <p:sp>
        <p:nvSpPr>
          <p:cNvPr id="20" name="Text 17"/>
          <p:cNvSpPr/>
          <p:nvPr/>
        </p:nvSpPr>
        <p:spPr>
          <a:xfrm>
            <a:off x="1481328" y="4425696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unit tests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481328" y="475488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amount·policy·quota·agent eval·failure</a:t>
            </a:r>
            <a:endParaRPr lang="en-US" sz="850" dirty="0"/>
          </a:p>
        </p:txBody>
      </p:sp>
      <p:sp>
        <p:nvSpPr>
          <p:cNvPr id="22" name="Text 19"/>
          <p:cNvSpPr/>
          <p:nvPr/>
        </p:nvSpPr>
        <p:spPr>
          <a:xfrm>
            <a:off x="4361688" y="4370832"/>
            <a:ext cx="749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08</a:t>
            </a:r>
            <a:endParaRPr lang="en-US" sz="2700" dirty="0"/>
          </a:p>
        </p:txBody>
      </p:sp>
      <p:sp>
        <p:nvSpPr>
          <p:cNvPr id="23" name="Text 20"/>
          <p:cNvSpPr/>
          <p:nvPr/>
        </p:nvSpPr>
        <p:spPr>
          <a:xfrm>
            <a:off x="5184648" y="4425696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browser tests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5184648" y="475488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desktop + Pixel 7 + 402 + SSE reconnect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8065008" y="4370832"/>
            <a:ext cx="749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09</a:t>
            </a:r>
            <a:endParaRPr lang="en-US" sz="2700" dirty="0"/>
          </a:p>
        </p:txBody>
      </p:sp>
      <p:sp>
        <p:nvSpPr>
          <p:cNvPr id="26" name="Text 23"/>
          <p:cNvSpPr/>
          <p:nvPr/>
        </p:nvSpPr>
        <p:spPr>
          <a:xfrm>
            <a:off x="8887968" y="4425696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compiled routes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8887968" y="475488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Next.js production build</a:t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>
            <a:off x="658368" y="5431536"/>
            <a:ext cx="10863072" cy="457200"/>
          </a:xfrm>
          <a:prstGeom prst="rect">
            <a:avLst>
              <a:gd name="adj" fmla="val 8000"/>
            </a:avLst>
          </a:prstGeom>
          <a:solidFill>
            <a:srgbClr val="DDEBE5"/>
          </a:solidFill>
          <a:ln w="10160">
            <a:solidFill>
              <a:srgbClr val="08664B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877824" y="5559552"/>
            <a:ext cx="960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PASS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1874520" y="5486400"/>
            <a:ext cx="9052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7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Explorer에서 network·mint·payee·amount를 검증했습니다.</a:t>
            </a:r>
            <a:endParaRPr lang="en-US" sz="1070" dirty="0"/>
          </a:p>
        </p:txBody>
      </p:sp>
      <p:sp>
        <p:nvSpPr>
          <p:cNvPr id="31" name="Shape 28"/>
          <p:cNvSpPr/>
          <p:nvPr/>
        </p:nvSpPr>
        <p:spPr>
          <a:xfrm>
            <a:off x="621792" y="6291072"/>
            <a:ext cx="10927080" cy="0"/>
          </a:xfrm>
          <a:prstGeom prst="line">
            <a:avLst/>
          </a:prstGeom>
          <a:noFill/>
          <a:ln w="7620">
            <a:solidFill>
              <a:srgbClr val="D4DAD5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21792" y="6419088"/>
            <a:ext cx="5029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2645D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GCP x SOLANA AI AGENTIC HACKATHON / 2026</a:t>
            </a:r>
            <a:endParaRPr lang="en-US" sz="68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46520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52645D"/>
                </a:solidFill>
                <a:latin typeface="Cascadia Mono"/>
                <a:ea typeface="Cascadia Mono"/>
                <a:cs typeface="Cascadia Mono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4944" y="557784"/>
            <a:ext cx="548640" cy="5486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399032" y="502920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REIN/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694944" y="1508760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WHY NOW</a:t>
            </a:r>
            <a:endParaRPr lang="en-US" sz="800" dirty="0"/>
          </a:p>
        </p:txBody>
      </p:sp>
      <p:sp>
        <p:nvSpPr>
          <p:cNvPr id="5" name="Text 2"/>
          <p:cNvSpPr/>
          <p:nvPr/>
        </p:nvSpPr>
        <p:spPr>
          <a:xfrm>
            <a:off x="658368" y="1810512"/>
            <a:ext cx="717804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에이전트 커머스의 다음 UX는</a:t>
            </a:r>
            <a:endParaRPr lang="en-US" sz="3100" dirty="0"/>
          </a:p>
          <a:p>
            <a:pPr indent="0" marL="0">
              <a:buNone/>
            </a:pPr>
            <a:r>
              <a:rPr lang="en-US" sz="31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‘살 수 있음’이 아니라 ‘증명 가능한 구매’입니다.</a:t>
            </a:r>
            <a:endParaRPr lang="en-US" sz="3100" dirty="0"/>
          </a:p>
        </p:txBody>
      </p:sp>
      <p:sp>
        <p:nvSpPr>
          <p:cNvPr id="6" name="Text 3"/>
          <p:cNvSpPr/>
          <p:nvPr/>
        </p:nvSpPr>
        <p:spPr>
          <a:xfrm>
            <a:off x="694944" y="3429000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REIN은 작은 고정 카탈로그에서 시작하지만, 같은 contract를 리서치 API, B2B 데이터, 모델·툴 조달로 확장할 수 있습니다.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8028432" y="1417320"/>
            <a:ext cx="3310128" cy="4059936"/>
          </a:xfrm>
          <a:prstGeom prst="rect">
            <a:avLst>
              <a:gd name="adj" fmla="val 1105"/>
            </a:avLst>
          </a:prstGeom>
          <a:solidFill>
            <a:srgbClr val="111A16"/>
          </a:solidFill>
          <a:ln w="10160">
            <a:solidFill>
              <a:srgbClr val="111A1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339328" y="1746504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DEBE5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SUBMISSION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339328" y="2221992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GitHub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339328" y="2542032"/>
            <a:ext cx="25146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DDEBE5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github.com/jeonsavvy/REIN</a:t>
            </a:r>
            <a:endParaRPr lang="en-US" sz="720" dirty="0"/>
          </a:p>
        </p:txBody>
      </p:sp>
      <p:sp>
        <p:nvSpPr>
          <p:cNvPr id="11" name="Shape 8"/>
          <p:cNvSpPr/>
          <p:nvPr/>
        </p:nvSpPr>
        <p:spPr>
          <a:xfrm>
            <a:off x="8339328" y="2962656"/>
            <a:ext cx="2651760" cy="0"/>
          </a:xfrm>
          <a:prstGeom prst="line">
            <a:avLst/>
          </a:prstGeom>
          <a:noFill/>
          <a:ln w="8890">
            <a:solidFill>
              <a:srgbClr val="52645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339328" y="324612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Live app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8339328" y="3566160"/>
            <a:ext cx="2514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10" dirty="0">
                <a:solidFill>
                  <a:srgbClr val="DDEBE5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https://rein-vvwpcipqca-du.a.run.app</a:t>
            </a:r>
            <a:endParaRPr lang="en-US" sz="710" dirty="0"/>
          </a:p>
        </p:txBody>
      </p:sp>
      <p:sp>
        <p:nvSpPr>
          <p:cNvPr id="14" name="Shape 11"/>
          <p:cNvSpPr/>
          <p:nvPr/>
        </p:nvSpPr>
        <p:spPr>
          <a:xfrm>
            <a:off x="8339328" y="4242816"/>
            <a:ext cx="2651760" cy="0"/>
          </a:xfrm>
          <a:prstGeom prst="line">
            <a:avLst/>
          </a:prstGeom>
          <a:noFill/>
          <a:ln w="8890">
            <a:solidFill>
              <a:srgbClr val="52645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339328" y="452628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Video demo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8339328" y="4846320"/>
            <a:ext cx="25146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DDEBE5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≤ 3 min · captions included</a:t>
            </a:r>
            <a:endParaRPr lang="en-US" sz="720" dirty="0"/>
          </a:p>
        </p:txBody>
      </p:sp>
      <p:sp>
        <p:nvSpPr>
          <p:cNvPr id="17" name="Text 14"/>
          <p:cNvSpPr/>
          <p:nvPr/>
        </p:nvSpPr>
        <p:spPr>
          <a:xfrm>
            <a:off x="694944" y="5193792"/>
            <a:ext cx="6766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8664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Autonomy, held to proof.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621792" y="6291072"/>
            <a:ext cx="10927080" cy="0"/>
          </a:xfrm>
          <a:prstGeom prst="line">
            <a:avLst/>
          </a:prstGeom>
          <a:noFill/>
          <a:ln w="7620">
            <a:solidFill>
              <a:srgbClr val="D4DAD5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21792" y="6419088"/>
            <a:ext cx="5029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2645D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REIN / AGENT-INITIATED COMMERCE</a:t>
            </a:r>
            <a:endParaRPr lang="en-US" sz="68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46520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52645D"/>
                </a:solidFill>
                <a:latin typeface="Cascadia Mono"/>
                <a:ea typeface="Cascadia Mono"/>
                <a:cs typeface="Cascadia Mono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ans K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K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REIN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REIN - Autonomy, held to proof</dc:title>
  <dc:subject>Google Cloud x Solana AI Agentic Hackathon submission</dc:subject>
  <dc:creator>REIN</dc:creator>
  <cp:lastModifiedBy>REIN</cp:lastModifiedBy>
  <cp:revision>1</cp:revision>
  <dcterms:created xsi:type="dcterms:W3CDTF">2026-07-21T13:14:15Z</dcterms:created>
  <dcterms:modified xsi:type="dcterms:W3CDTF">2026-07-21T13:14:15Z</dcterms:modified>
</cp:coreProperties>
</file>