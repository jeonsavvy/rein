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IN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530352"/>
            <a:ext cx="592531" cy="59253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17320" y="47548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694944" y="149047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7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AGENT-INITIATED COMMERCE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8368" y="185623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Autonomy,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held to proof.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94944" y="3822192"/>
            <a:ext cx="6492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목표와 예산을 받으면 데이터를 고르고, 결제한 뒤 근거와 영수증을 남깁니다.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909560" y="1344168"/>
            <a:ext cx="3429000" cy="4096512"/>
          </a:xfrm>
          <a:prstGeom prst="rect">
            <a:avLst>
              <a:gd name="adj" fmla="val 1067"/>
            </a:avLst>
          </a:prstGeom>
          <a:solidFill>
            <a:srgbClr val="111A16"/>
          </a:solidFill>
          <a:ln w="10160">
            <a:solidFill>
              <a:srgbClr val="111A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47888" y="167335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DEFAULT RUN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11312" y="201168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0.003</a:t>
            </a:r>
            <a:endParaRPr lang="en-US" sz="3700" dirty="0"/>
          </a:p>
        </p:txBody>
      </p:sp>
      <p:sp>
        <p:nvSpPr>
          <p:cNvPr id="10" name="Text 7"/>
          <p:cNvSpPr/>
          <p:nvPr/>
        </p:nvSpPr>
        <p:spPr>
          <a:xfrm>
            <a:off x="8247888" y="26700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TEST USDC HARD CAP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8247888" y="3127248"/>
            <a:ext cx="2697480" cy="0"/>
          </a:xfrm>
          <a:prstGeom prst="line">
            <a:avLst/>
          </a:prstGeom>
          <a:noFill/>
          <a:ln w="8890">
            <a:solidFill>
              <a:srgbClr val="52645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47888" y="3374136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006840" y="350215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DATA PURCHASES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8247888" y="41605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 3.5 Flash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x402 · Solana Devnet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 / PROBLEM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데이터를 고르는 모델에게 결제 권한까지 맡길 수는 없습니다.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대상: 유료 외부 데이터를 쓰는 리서치·AI 운영팀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441448"/>
            <a:ext cx="3456432" cy="2487168"/>
          </a:xfrm>
          <a:prstGeom prst="rect">
            <a:avLst>
              <a:gd name="adj" fmla="val 1471"/>
            </a:avLst>
          </a:prstGeom>
          <a:solidFill>
            <a:srgbClr val="F8F5ED"/>
          </a:solidFill>
          <a:ln w="10160">
            <a:solidFill>
              <a:srgbClr val="9AA8A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" y="26700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145536" y="27066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선택 근거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859536" y="3054096"/>
            <a:ext cx="3054096" cy="0"/>
          </a:xfrm>
          <a:prstGeom prst="line">
            <a:avLst/>
          </a:prstGeom>
          <a:noFill/>
          <a:ln w="8890">
            <a:solidFill>
              <a:srgbClr val="D4DAD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30098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 데이터를 샀는가?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59536" y="4078224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문장만으로는 관련성과 가격을 대조하기 어렵습니다.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43984" y="2441448"/>
            <a:ext cx="3456432" cy="2487168"/>
          </a:xfrm>
          <a:prstGeom prst="rect">
            <a:avLst>
              <a:gd name="adj" fmla="val 1471"/>
            </a:avLst>
          </a:prstGeom>
          <a:solidFill>
            <a:srgbClr val="F8F5ED"/>
          </a:solidFill>
          <a:ln w="10160">
            <a:solidFill>
              <a:srgbClr val="9AA8A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45152" y="26700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31152" y="27066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정책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4645152" y="3054096"/>
            <a:ext cx="3054096" cy="0"/>
          </a:xfrm>
          <a:prstGeom prst="line">
            <a:avLst/>
          </a:prstGeom>
          <a:noFill/>
          <a:ln w="8890">
            <a:solidFill>
              <a:srgbClr val="D4DAD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45152" y="330098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예산과 자산 정책을 지켰는가?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645152" y="4078224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출력만으로 URL·자산·금액을 제한할 수 없습니다.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0" y="2441448"/>
            <a:ext cx="3456432" cy="2487168"/>
          </a:xfrm>
          <a:prstGeom prst="rect">
            <a:avLst>
              <a:gd name="adj" fmla="val 1471"/>
            </a:avLst>
          </a:prstGeom>
          <a:solidFill>
            <a:srgbClr val="F8F5ED"/>
          </a:solidFill>
          <a:ln w="10160">
            <a:solidFill>
              <a:srgbClr val="B43B2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30768" y="26700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3B2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716768" y="27066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정산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8430768" y="3054096"/>
            <a:ext cx="3054096" cy="0"/>
          </a:xfrm>
          <a:prstGeom prst="line">
            <a:avLst/>
          </a:prstGeom>
          <a:noFill/>
          <a:ln w="8890">
            <a:solidFill>
              <a:srgbClr val="D4DAD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430768" y="330098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중복 결제 없이 정산됐는가?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8430768" y="4078224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초과 뒤 재시도는 중복 결제나 잘못된 완료 처리를 만들 수 있습니다.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76656" y="52669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REIN이 남기는 것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965960" y="5166360"/>
            <a:ext cx="9052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이유, 코드 정책, Explorer 영수증을 실행 기록 하나에 묶습니다.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 / PRODUCT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사용자는 목표와 상한만 정합니다.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REIN이 선택·검사·결제·보고를 수행합니다.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실행: 0.003 Devnet USDC로 SOL·ETH 시장과 개발 모멘텀 비교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71600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0866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1792224" y="2688336"/>
            <a:ext cx="1417320" cy="0"/>
          </a:xfrm>
          <a:prstGeom prst="line">
            <a:avLst/>
          </a:prstGeom>
          <a:noFill/>
          <a:ln w="1270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658368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GOAL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66928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조사 목표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12648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+ 0.003 USDC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675888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0866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4096512" y="2688336"/>
            <a:ext cx="1417320" cy="0"/>
          </a:xfrm>
          <a:prstGeom prst="line">
            <a:avLst/>
          </a:prstGeom>
          <a:noFill/>
          <a:ln w="1270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2962656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SELECT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2871216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 선택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2916936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0.001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0.002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980176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0866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6400800" y="2688336"/>
            <a:ext cx="1417320" cy="0"/>
          </a:xfrm>
          <a:prstGeom prst="line">
            <a:avLst/>
          </a:prstGeom>
          <a:noFill/>
          <a:ln w="1270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20" name="Text 17"/>
          <p:cNvSpPr/>
          <p:nvPr/>
        </p:nvSpPr>
        <p:spPr>
          <a:xfrm>
            <a:off x="5266944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POLICY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5175504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결제 전 검사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221224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URL·mint·금액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상한 확인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284464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A86A1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86A1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8705088" y="2688336"/>
            <a:ext cx="1417320" cy="0"/>
          </a:xfrm>
          <a:prstGeom prst="line">
            <a:avLst/>
          </a:prstGeom>
          <a:noFill/>
          <a:ln w="1270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25" name="Text 22"/>
          <p:cNvSpPr/>
          <p:nvPr/>
        </p:nvSpPr>
        <p:spPr>
          <a:xfrm>
            <a:off x="7571232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PAY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7479792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x402 결제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525512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Devnet USDC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2건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0588752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0866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9875520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RESULT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9784080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기록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9829800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스냅샷 + 영수증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데이터 한계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658368" y="4855464"/>
            <a:ext cx="10863072" cy="713232"/>
          </a:xfrm>
          <a:prstGeom prst="rect">
            <a:avLst>
              <a:gd name="adj" fmla="val 5128"/>
            </a:avLst>
          </a:prstGeom>
          <a:solidFill>
            <a:srgbClr val="DDEBE5"/>
          </a:solidFill>
          <a:ln w="10160">
            <a:solidFill>
              <a:srgbClr val="08664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6112" y="50749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MODEL OUTPUT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2331720" y="49651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 · 관련성 · 가격 · 선택 이유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428232" y="50749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3B2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모델 권한 밖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7543800" y="49651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3B2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결제 키 · 임의 URL · 임의 자산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 / EXPERIENCE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목표·예산·선택 이유·영수증을 한 흐름에서 확인합니다.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Cloud Run 실행 — Gemini 선택, 정책 검사, Devnet 결제, 영수증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pic>
        <p:nvPicPr>
          <p:cNvPr id="8" name="Image 1" descr="C:\PROJECT\구글 클라우드 X 솔라나 AI Agentic 해커톤 지원\artifacts\qa\desktop-live-completed.png">    </p:cNvPr>
          <p:cNvPicPr>
            <a:picLocks noChangeAspect="1"/>
          </p:cNvPicPr>
          <p:nvPr/>
        </p:nvPicPr>
        <p:blipFill>
          <a:blip r:embed="rId3"/>
          <a:srcRect l="0" r="0" t="8916" b="8916"/>
          <a:stretch/>
        </p:blipFill>
        <p:spPr>
          <a:xfrm>
            <a:off x="640080" y="2414016"/>
            <a:ext cx="7498080" cy="346557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40080" y="2414016"/>
            <a:ext cx="7498080" cy="3465576"/>
          </a:xfrm>
          <a:prstGeom prst="rect">
            <a:avLst/>
          </a:prstGeom>
          <a:solidFill>
            <a:srgbClr val="FFFFFF">
              <a:alpha val="0"/>
            </a:srgbClr>
          </a:solidFill>
          <a:ln w="11430">
            <a:solidFill>
              <a:srgbClr val="111A1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41248" y="2578608"/>
            <a:ext cx="1627632" cy="219456"/>
          </a:xfrm>
          <a:prstGeom prst="rect">
            <a:avLst/>
          </a:prstGeom>
          <a:solidFill>
            <a:srgbClr val="DDEBE5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LIVE / COMPLETED</a:t>
            </a:r>
            <a:endParaRPr lang="en-US" sz="700" dirty="0"/>
          </a:p>
        </p:txBody>
      </p:sp>
      <p:sp>
        <p:nvSpPr>
          <p:cNvPr id="11" name="Text 7"/>
          <p:cNvSpPr/>
          <p:nvPr/>
        </p:nvSpPr>
        <p:spPr>
          <a:xfrm>
            <a:off x="8458200" y="2459736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887968" y="24414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구매 순서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8458200" y="278892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 → 선택 이유 → 정책 → 결제 → 수령을 시간순으로 확인</a:t>
            </a:r>
            <a:endParaRPr lang="en-US" sz="920" dirty="0"/>
          </a:p>
        </p:txBody>
      </p:sp>
      <p:sp>
        <p:nvSpPr>
          <p:cNvPr id="14" name="Shape 10"/>
          <p:cNvSpPr/>
          <p:nvPr/>
        </p:nvSpPr>
        <p:spPr>
          <a:xfrm>
            <a:off x="8458200" y="3410712"/>
            <a:ext cx="2761488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458200" y="357530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8887968" y="35570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고정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8458200" y="39044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지출, 남은 예산, 영수증을 선택 결과 옆에 배치</a:t>
            </a:r>
            <a:endParaRPr lang="en-US" sz="920" dirty="0"/>
          </a:p>
        </p:txBody>
      </p:sp>
      <p:sp>
        <p:nvSpPr>
          <p:cNvPr id="18" name="Shape 14"/>
          <p:cNvSpPr/>
          <p:nvPr/>
        </p:nvSpPr>
        <p:spPr>
          <a:xfrm>
            <a:off x="8458200" y="4526280"/>
            <a:ext cx="2761488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458200" y="4690872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8887968" y="46725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상태별 복구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8458200" y="5020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denied·unavailable·reconciling·timeout별 복구 안내</a:t>
            </a:r>
            <a:endParaRPr lang="en-US" sz="920" dirty="0"/>
          </a:p>
        </p:txBody>
      </p:sp>
      <p:sp>
        <p:nvSpPr>
          <p:cNvPr id="22" name="Shape 18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 / ARCHITECTURE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서비스, 세 개의 권한 경계.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UI·에이전트 API·유료 데이터 API는 Cloud Run에 두고, 키는 Secret Manager에서만 불러옵니다.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487168"/>
            <a:ext cx="2980944" cy="2377440"/>
          </a:xfrm>
          <a:prstGeom prst="rect">
            <a:avLst>
              <a:gd name="adj" fmla="val 1538"/>
            </a:avLst>
          </a:prstGeom>
          <a:solidFill>
            <a:srgbClr val="F8F5ED"/>
          </a:solidFill>
          <a:ln w="13970">
            <a:solidFill>
              <a:srgbClr val="08664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69748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DECIDE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868680" y="299008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Vertex AI + Google ADK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86968" y="3694176"/>
            <a:ext cx="73152" cy="73152"/>
          </a:xfrm>
          <a:prstGeom prst="ellipse">
            <a:avLst/>
          </a:prstGeom>
          <a:solidFill>
            <a:srgbClr val="08664B"/>
          </a:solidFill>
          <a:ln w="12700">
            <a:solidFill>
              <a:srgbClr val="08664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3611880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gemini-3.5-flash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86968" y="4023360"/>
            <a:ext cx="73152" cy="73152"/>
          </a:xfrm>
          <a:prstGeom prst="ellipse">
            <a:avLst/>
          </a:prstGeom>
          <a:solidFill>
            <a:srgbClr val="08664B"/>
          </a:solidFill>
          <a:ln w="12700">
            <a:solidFill>
              <a:srgbClr val="0866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941064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structured selection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86968" y="4352544"/>
            <a:ext cx="73152" cy="73152"/>
          </a:xfrm>
          <a:prstGeom prst="ellipse">
            <a:avLst/>
          </a:prstGeom>
          <a:solidFill>
            <a:srgbClr val="08664B"/>
          </a:solidFill>
          <a:ln w="12700">
            <a:solidFill>
              <a:srgbClr val="0866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4270248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purchased-evidence synthesis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968496" y="2487168"/>
            <a:ext cx="4233672" cy="2377440"/>
          </a:xfrm>
          <a:prstGeom prst="rect">
            <a:avLst>
              <a:gd name="adj" fmla="val 1538"/>
            </a:avLst>
          </a:prstGeom>
          <a:solidFill>
            <a:srgbClr val="F8F5ED"/>
          </a:solidFill>
          <a:ln w="13970">
            <a:solidFill>
              <a:srgbClr val="111A1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78808" y="2697480"/>
            <a:ext cx="3813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A1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CONTROL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4178808" y="2990088"/>
            <a:ext cx="3813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policy + Firestore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197096" y="3694176"/>
            <a:ext cx="73152" cy="73152"/>
          </a:xfrm>
          <a:prstGeom prst="ellipse">
            <a:avLst/>
          </a:prstGeom>
          <a:solidFill>
            <a:srgbClr val="111A16"/>
          </a:solidFill>
          <a:ln w="12700">
            <a:solidFill>
              <a:srgbClr val="111A1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352544" y="3611880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fixed catalog / BigInt limits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97096" y="4023360"/>
            <a:ext cx="73152" cy="73152"/>
          </a:xfrm>
          <a:prstGeom prst="ellipse">
            <a:avLst/>
          </a:prstGeom>
          <a:solidFill>
            <a:srgbClr val="111A16"/>
          </a:solidFill>
          <a:ln w="12700">
            <a:solidFill>
              <a:srgbClr val="111A1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352544" y="3941064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transactional reservation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197096" y="4352544"/>
            <a:ext cx="73152" cy="73152"/>
          </a:xfrm>
          <a:prstGeom prst="ellipse">
            <a:avLst/>
          </a:prstGeom>
          <a:solidFill>
            <a:srgbClr val="111A16"/>
          </a:solidFill>
          <a:ln w="12700">
            <a:solidFill>
              <a:srgbClr val="111A1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352544" y="4270248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events · payments · quota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531352" y="2487168"/>
            <a:ext cx="2999232" cy="2377440"/>
          </a:xfrm>
          <a:prstGeom prst="rect">
            <a:avLst>
              <a:gd name="adj" fmla="val 1538"/>
            </a:avLst>
          </a:prstGeom>
          <a:solidFill>
            <a:srgbClr val="F8F5ED"/>
          </a:solidFill>
          <a:ln w="13970">
            <a:solidFill>
              <a:srgbClr val="A86A1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741664" y="2697480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86A1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SETTLE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8741664" y="2990088"/>
            <a:ext cx="2578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x402 + Solana Devnet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759952" y="3694176"/>
            <a:ext cx="73152" cy="73152"/>
          </a:xfrm>
          <a:prstGeom prst="ellipse">
            <a:avLst/>
          </a:prstGeom>
          <a:solidFill>
            <a:srgbClr val="A86A10"/>
          </a:solidFill>
          <a:ln w="12700">
            <a:solidFill>
              <a:srgbClr val="A86A1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915400" y="3611880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buyer + protected seller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759952" y="4023360"/>
            <a:ext cx="73152" cy="73152"/>
          </a:xfrm>
          <a:prstGeom prst="ellipse">
            <a:avLst/>
          </a:prstGeom>
          <a:solidFill>
            <a:srgbClr val="A86A10"/>
          </a:solidFill>
          <a:ln w="12700">
            <a:solidFill>
              <a:srgbClr val="A86A1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915400" y="3941064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payment-identifier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759952" y="4352544"/>
            <a:ext cx="73152" cy="73152"/>
          </a:xfrm>
          <a:prstGeom prst="ellipse">
            <a:avLst/>
          </a:prstGeom>
          <a:solidFill>
            <a:srgbClr val="A86A10"/>
          </a:solidFill>
          <a:ln w="12700">
            <a:solidFill>
              <a:srgbClr val="A86A1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915400" y="4270248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Circle test USDC receipt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675888" y="3685032"/>
            <a:ext cx="283464" cy="0"/>
          </a:xfrm>
          <a:prstGeom prst="line">
            <a:avLst/>
          </a:prstGeom>
          <a:noFill/>
          <a:ln w="1524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220456" y="3685032"/>
            <a:ext cx="283464" cy="0"/>
          </a:xfrm>
          <a:prstGeom prst="line">
            <a:avLst/>
          </a:prstGeom>
          <a:noFill/>
          <a:ln w="1524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1389888" y="5166360"/>
            <a:ext cx="9418320" cy="530352"/>
          </a:xfrm>
          <a:prstGeom prst="rect">
            <a:avLst>
              <a:gd name="adj" fmla="val 6897"/>
            </a:avLst>
          </a:prstGeom>
          <a:solidFill>
            <a:srgbClr val="DDEBE5"/>
          </a:solidFill>
          <a:ln w="10160">
            <a:solidFill>
              <a:srgbClr val="08664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627632" y="534009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PRE-PAYMENT SNAPSHOT</a:t>
            </a:r>
            <a:endParaRPr lang="en-US" sz="720" dirty="0"/>
          </a:p>
        </p:txBody>
      </p:sp>
      <p:sp>
        <p:nvSpPr>
          <p:cNvPr id="39" name="Text 36"/>
          <p:cNvSpPr/>
          <p:nvPr/>
        </p:nvSpPr>
        <p:spPr>
          <a:xfrm>
            <a:off x="3566160" y="5221224"/>
            <a:ext cx="6748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CoinGecko + GitHub → snapshotId 고정 → 결제 후 같은 데이터 반환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06 / SAFETY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주소·네트워크·자산·예산은 코드가 결제 전에 검증합니다.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Gemini는 상품을 제안하고, 결제 허용 여부는 정책 엔진이 결정합니다.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243230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ALLOWLIST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1865376" y="239572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 2개 고정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865376" y="275234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URL·network·mint·payee·price는 카탈로그 값만 허용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658368" y="325526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63056" y="243230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ATOMIC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7370064" y="239572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금액은 BigInt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70064" y="275234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6자리 atomic 문자열, 구매 4000 / 실행 10000 / 일일 250000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6163056" y="325526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348386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IDEMPOTENCY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1865376" y="344728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요청별 결제 ID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865376" y="380390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payment ID가 다른 요청에 쓰이면 Firestore에서 거부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658368" y="430682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63056" y="348386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A86A1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RECONCILE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7370064" y="344728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재결제 금지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370064" y="380390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서명 뒤 상태가 불명확하면 예약을 유지하고 Explorer에서 확인</a:t>
            </a:r>
            <a:endParaRPr lang="en-US" sz="880" dirty="0"/>
          </a:p>
        </p:txBody>
      </p:sp>
      <p:sp>
        <p:nvSpPr>
          <p:cNvPr id="23" name="Shape 20"/>
          <p:cNvSpPr/>
          <p:nvPr/>
        </p:nvSpPr>
        <p:spPr>
          <a:xfrm>
            <a:off x="6163056" y="430682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" y="453542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SECRET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1865376" y="449884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서버 전용 서명 키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865376" y="485546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키는 Cloud Run에만 주입하며 Gemini·브라우저에는 전달하지 않음</a:t>
            </a:r>
            <a:endParaRPr lang="en-US" sz="880" dirty="0"/>
          </a:p>
        </p:txBody>
      </p:sp>
      <p:sp>
        <p:nvSpPr>
          <p:cNvPr id="27" name="Shape 24"/>
          <p:cNvSpPr/>
          <p:nvPr/>
        </p:nvSpPr>
        <p:spPr>
          <a:xfrm>
            <a:off x="658368" y="535838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163056" y="453542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INJECTION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7370064" y="449884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데이터는 비신뢰 입력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7370064" y="485546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카탈로그와 데이터 속 지시는 무시하고 허용된 숫자 필드만 사용</a:t>
            </a:r>
            <a:endParaRPr lang="en-US" sz="880" dirty="0"/>
          </a:p>
        </p:txBody>
      </p:sp>
      <p:sp>
        <p:nvSpPr>
          <p:cNvPr id="31" name="Shape 28"/>
          <p:cNvSpPr/>
          <p:nvPr/>
        </p:nvSpPr>
        <p:spPr>
          <a:xfrm>
            <a:off x="6163056" y="535838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58368" y="5596128"/>
            <a:ext cx="10863072" cy="411480"/>
          </a:xfrm>
          <a:prstGeom prst="rect">
            <a:avLst>
              <a:gd name="adj" fmla="val 8889"/>
            </a:avLst>
          </a:prstGeom>
          <a:solidFill>
            <a:srgbClr val="F2DDD7"/>
          </a:solidFill>
          <a:ln w="10160">
            <a:solidFill>
              <a:srgbClr val="B43B2D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68680" y="5705856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B43B2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제외 범위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2057400" y="5641848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3B2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Mainnet · 실자산 · 임의 판매자 · 로그인 · 구독 · 멀티에이전트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07 / EVIDENCE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구매 2건과 Explorer 영수증 2건.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https://rein-vvwpcipqca-du.a.run.app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468880"/>
            <a:ext cx="5230368" cy="1207008"/>
          </a:xfrm>
          <a:prstGeom prst="rect">
            <a:avLst>
              <a:gd name="adj" fmla="val 3030"/>
            </a:avLst>
          </a:prstGeom>
          <a:solidFill>
            <a:srgbClr val="F8F5ED"/>
          </a:solidFill>
          <a:ln w="13970">
            <a:solidFill>
              <a:srgbClr val="08664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" y="2633472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SETTLED / DEVNET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859536" y="288950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Market snapshot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453128" y="263347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A1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0.001 USDC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3291840"/>
            <a:ext cx="4782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NoNGYPThfsy8jx43CvHBeVwXx6Cm5T9eLLNuM2JNEKfBSYnZLveQThxeio9Y7Divs9CEpg6TXFyUrjPBAEpQyrd</a:t>
            </a:r>
            <a:endParaRPr lang="en-US" sz="710" dirty="0"/>
          </a:p>
        </p:txBody>
      </p:sp>
      <p:sp>
        <p:nvSpPr>
          <p:cNvPr id="13" name="Shape 10"/>
          <p:cNvSpPr/>
          <p:nvPr/>
        </p:nvSpPr>
        <p:spPr>
          <a:xfrm>
            <a:off x="6300216" y="2468880"/>
            <a:ext cx="5230368" cy="1207008"/>
          </a:xfrm>
          <a:prstGeom prst="rect">
            <a:avLst>
              <a:gd name="adj" fmla="val 3030"/>
            </a:avLst>
          </a:prstGeom>
          <a:solidFill>
            <a:srgbClr val="F8F5ED"/>
          </a:solidFill>
          <a:ln w="13970">
            <a:solidFill>
              <a:srgbClr val="0866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01384" y="2633472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SETTLED / DEVNET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6501384" y="288950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health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094976" y="263347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A1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0.002 USDC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01384" y="3291840"/>
            <a:ext cx="4782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4Pw18BGdsvv7zo9WYsMXi3p5cCxhgrv5H3mNpa9hyyPopuAkDx18r48WcFor6CSEnNukbVCdJpgwPDXKrsAk7cbj</a:t>
            </a:r>
            <a:endParaRPr lang="en-US" sz="710" dirty="0"/>
          </a:p>
        </p:txBody>
      </p:sp>
      <p:sp>
        <p:nvSpPr>
          <p:cNvPr id="18" name="Text 15"/>
          <p:cNvSpPr/>
          <p:nvPr/>
        </p:nvSpPr>
        <p:spPr>
          <a:xfrm>
            <a:off x="676656" y="404164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LIVE DEVNET EVIDENCE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58368" y="4370832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55</a:t>
            </a:r>
            <a:endParaRPr lang="en-US" sz="2700" dirty="0"/>
          </a:p>
        </p:txBody>
      </p:sp>
      <p:sp>
        <p:nvSpPr>
          <p:cNvPr id="20" name="Text 17"/>
          <p:cNvSpPr/>
          <p:nvPr/>
        </p:nvSpPr>
        <p:spPr>
          <a:xfrm>
            <a:off x="1481328" y="44256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 tests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481328" y="47548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amount·policy·quota·agent eval·failure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4361688" y="4370832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08</a:t>
            </a:r>
            <a:endParaRPr lang="en-US" sz="2700" dirty="0"/>
          </a:p>
        </p:txBody>
      </p:sp>
      <p:sp>
        <p:nvSpPr>
          <p:cNvPr id="23" name="Text 20"/>
          <p:cNvSpPr/>
          <p:nvPr/>
        </p:nvSpPr>
        <p:spPr>
          <a:xfrm>
            <a:off x="5184648" y="44256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browser tests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184648" y="47548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desktop + Pixel 7 + 402 + SSE reconnect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65008" y="4370832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09</a:t>
            </a:r>
            <a:endParaRPr lang="en-US" sz="2700" dirty="0"/>
          </a:p>
        </p:txBody>
      </p:sp>
      <p:sp>
        <p:nvSpPr>
          <p:cNvPr id="26" name="Text 23"/>
          <p:cNvSpPr/>
          <p:nvPr/>
        </p:nvSpPr>
        <p:spPr>
          <a:xfrm>
            <a:off x="8887968" y="44256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compiled routes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887968" y="47548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production build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58368" y="5431536"/>
            <a:ext cx="10863072" cy="457200"/>
          </a:xfrm>
          <a:prstGeom prst="rect">
            <a:avLst>
              <a:gd name="adj" fmla="val 8000"/>
            </a:avLst>
          </a:prstGeom>
          <a:solidFill>
            <a:srgbClr val="DDEBE5"/>
          </a:solidFill>
          <a:ln w="10160">
            <a:solidFill>
              <a:srgbClr val="08664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77824" y="555955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PASS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1874520" y="548640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Explorer와 RPC에서 네트워크·자산·수취 주소·금액을 확인했습니다.</a:t>
            </a:r>
            <a:endParaRPr lang="en-US" sz="1070" dirty="0"/>
          </a:p>
        </p:txBody>
      </p:sp>
      <p:sp>
        <p:nvSpPr>
          <p:cNvPr id="31" name="Shape 28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4944" y="557784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99032" y="5029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694944" y="1508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WHY NOW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58368" y="1810512"/>
            <a:ext cx="71780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구매 결과에는 선택 이유, 정책 판단,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영수증이 함께 남아야 합니다.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694944" y="34290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지금은 데이터 상품 2개를 다룹니다. 같은 결제 계약을 리서치 API, B2B 데이터, 모델·도구 구매에도 적용할 수 있습니다.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028432" y="1417320"/>
            <a:ext cx="3310128" cy="4059936"/>
          </a:xfrm>
          <a:prstGeom prst="rect">
            <a:avLst>
              <a:gd name="adj" fmla="val 1105"/>
            </a:avLst>
          </a:prstGeom>
          <a:solidFill>
            <a:srgbClr val="111A16"/>
          </a:solidFill>
          <a:ln w="10160">
            <a:solidFill>
              <a:srgbClr val="111A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339328" y="174650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SUBMISSION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339328" y="22219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339328" y="2542032"/>
            <a:ext cx="2514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github.com/jeonsavvy/REIN</a:t>
            </a:r>
            <a:endParaRPr lang="en-US" sz="720" dirty="0"/>
          </a:p>
        </p:txBody>
      </p:sp>
      <p:sp>
        <p:nvSpPr>
          <p:cNvPr id="11" name="Shape 8"/>
          <p:cNvSpPr/>
          <p:nvPr/>
        </p:nvSpPr>
        <p:spPr>
          <a:xfrm>
            <a:off x="8339328" y="2962656"/>
            <a:ext cx="2651760" cy="0"/>
          </a:xfrm>
          <a:prstGeom prst="line">
            <a:avLst/>
          </a:prstGeom>
          <a:noFill/>
          <a:ln w="8890">
            <a:solidFill>
              <a:srgbClr val="52645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39328" y="32461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app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339328" y="356616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1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https://rein-vvwpcipqca-du.a.run.app</a:t>
            </a:r>
            <a:endParaRPr lang="en-US" sz="710" dirty="0"/>
          </a:p>
        </p:txBody>
      </p:sp>
      <p:sp>
        <p:nvSpPr>
          <p:cNvPr id="14" name="Shape 11"/>
          <p:cNvSpPr/>
          <p:nvPr/>
        </p:nvSpPr>
        <p:spPr>
          <a:xfrm>
            <a:off x="8339328" y="4242816"/>
            <a:ext cx="2651760" cy="0"/>
          </a:xfrm>
          <a:prstGeom prst="line">
            <a:avLst/>
          </a:prstGeom>
          <a:noFill/>
          <a:ln w="8890">
            <a:solidFill>
              <a:srgbClr val="52645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39328" y="45262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Video demo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339328" y="4846320"/>
            <a:ext cx="2514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≤ 3 min · captions included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694944" y="5193792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66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Autonomy, held to proof.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REIN / AGENT-INITIATED COMMERCE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REIN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 - Autonomy, held to proof</dc:title>
  <dc:subject>Google Cloud x Solana AI Agentic Hackathon submission</dc:subject>
  <dc:creator>REIN</dc:creator>
  <cp:lastModifiedBy>REIN</cp:lastModifiedBy>
  <cp:revision>1</cp:revision>
  <dcterms:created xsi:type="dcterms:W3CDTF">2026-07-21T14:54:09Z</dcterms:created>
  <dcterms:modified xsi:type="dcterms:W3CDTF">2026-07-21T14:54:09Z</dcterms:modified>
</cp:coreProperties>
</file>