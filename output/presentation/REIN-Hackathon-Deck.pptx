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REIN">
    <p:bg>
      <p:bgPr>
        <a:solidFill>
          <a:srgbClr val="F0ED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530352"/>
            <a:ext cx="592531" cy="592531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417320" y="47548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694944" y="1490472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7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AGENT-INITIATED COMMERCE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58368" y="185623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Autonomy,</a:t>
            </a:r>
            <a:endParaRPr lang="en-US" sz="4200" dirty="0"/>
          </a:p>
          <a:p>
            <a:pPr indent="0" marL="0">
              <a:buNone/>
            </a:pPr>
            <a:r>
              <a:rPr lang="en-US" sz="42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held to proof.</a:t>
            </a:r>
            <a:endParaRPr lang="en-US" sz="4200" dirty="0"/>
          </a:p>
        </p:txBody>
      </p:sp>
      <p:sp>
        <p:nvSpPr>
          <p:cNvPr id="6" name="Text 3"/>
          <p:cNvSpPr/>
          <p:nvPr/>
        </p:nvSpPr>
        <p:spPr>
          <a:xfrm>
            <a:off x="694944" y="3822192"/>
            <a:ext cx="6492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목표와 예산만 지정하면, 선택·결제·근거 보고서까지 한 번에.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7909560" y="1344168"/>
            <a:ext cx="3429000" cy="4096512"/>
          </a:xfrm>
          <a:prstGeom prst="rect">
            <a:avLst>
              <a:gd name="adj" fmla="val 1067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47888" y="167335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40" kern="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DEFAULT RUN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11312" y="2011680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0.003</a:t>
            </a:r>
            <a:endParaRPr lang="en-US" sz="3700" dirty="0"/>
          </a:p>
        </p:txBody>
      </p:sp>
      <p:sp>
        <p:nvSpPr>
          <p:cNvPr id="10" name="Text 7"/>
          <p:cNvSpPr/>
          <p:nvPr/>
        </p:nvSpPr>
        <p:spPr>
          <a:xfrm>
            <a:off x="8247888" y="267004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TEST USDC HARD CAP</a:t>
            </a:r>
            <a:endParaRPr lang="en-US" sz="750" dirty="0"/>
          </a:p>
        </p:txBody>
      </p:sp>
      <p:sp>
        <p:nvSpPr>
          <p:cNvPr id="11" name="Shape 8"/>
          <p:cNvSpPr/>
          <p:nvPr/>
        </p:nvSpPr>
        <p:spPr>
          <a:xfrm>
            <a:off x="8247888" y="3127248"/>
            <a:ext cx="269748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47888" y="3374136"/>
            <a:ext cx="685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9006840" y="3502152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DATA PURCHASES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8247888" y="416052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 3.5 Flash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· Solana Devnet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 / PROBLEM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AI가 결제할수록, 답변보다 구매 통제가 먼저입니다.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Target: 유료 외부 데이터를 쓰는 리서치·AI 운영팀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145536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WHY</a:t>
            </a:r>
            <a:endParaRPr lang="en-US" sz="700" dirty="0"/>
          </a:p>
        </p:txBody>
      </p:sp>
      <p:sp>
        <p:nvSpPr>
          <p:cNvPr id="11" name="Shape 8"/>
          <p:cNvSpPr/>
          <p:nvPr/>
        </p:nvSpPr>
        <p:spPr>
          <a:xfrm>
            <a:off x="859536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이 데이터를 샀는가?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859536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문장만으로는 관련성과 가격을 감사할 수 없습니다.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43984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9AA8A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45152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31152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LIMIT</a:t>
            </a:r>
            <a:endParaRPr lang="en-US" sz="700" dirty="0"/>
          </a:p>
        </p:txBody>
      </p:sp>
      <p:sp>
        <p:nvSpPr>
          <p:cNvPr id="17" name="Shape 14"/>
          <p:cNvSpPr/>
          <p:nvPr/>
        </p:nvSpPr>
        <p:spPr>
          <a:xfrm>
            <a:off x="4645152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645152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상한을 정말 지켰는가?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645152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출력만 믿으면 URL·자산·금액이 정책을 벗어날 수 있습니다.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8229600" y="2441448"/>
            <a:ext cx="3456432" cy="2487168"/>
          </a:xfrm>
          <a:prstGeom prst="rect">
            <a:avLst>
              <a:gd name="adj" fmla="val 1471"/>
            </a:avLst>
          </a:prstGeom>
          <a:solidFill>
            <a:srgbClr val="F8F5ED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30768" y="2670048"/>
            <a:ext cx="475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10716768" y="2706624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PROOF</a:t>
            </a:r>
            <a:endParaRPr lang="en-US" sz="700" dirty="0"/>
          </a:p>
        </p:txBody>
      </p:sp>
      <p:sp>
        <p:nvSpPr>
          <p:cNvPr id="23" name="Shape 20"/>
          <p:cNvSpPr/>
          <p:nvPr/>
        </p:nvSpPr>
        <p:spPr>
          <a:xfrm>
            <a:off x="8430768" y="3054096"/>
            <a:ext cx="3054096" cy="0"/>
          </a:xfrm>
          <a:prstGeom prst="line">
            <a:avLst/>
          </a:prstGeom>
          <a:noFill/>
          <a:ln w="889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430768" y="3300984"/>
            <a:ext cx="29077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정말 한 번만 결제했는가?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8430768" y="4078224"/>
            <a:ext cx="290779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timeout과 retry는 이중 결제 또는 가짜 완료 표시를 만듭니다.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676656" y="5266944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REIN의 답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965960" y="5166360"/>
            <a:ext cx="9052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이유 + deterministic policy + 공개 영수증을 하나의 run에 묶습니다.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 / PRODUCT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사람은 목표와 상한을 정하고, 에이전트는 조달을 완결합니다.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데모: 0.003 테스트 USDC로 SOL·ETH 시장과 개발 모멘텀 비교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0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1792224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658368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GOAL</a:t>
            </a:r>
            <a:endParaRPr lang="en-US" sz="750" dirty="0"/>
          </a:p>
        </p:txBody>
      </p:sp>
      <p:sp>
        <p:nvSpPr>
          <p:cNvPr id="11" name="Text 8"/>
          <p:cNvSpPr/>
          <p:nvPr/>
        </p:nvSpPr>
        <p:spPr>
          <a:xfrm>
            <a:off x="566928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조사 주문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12648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+ 3000 atomic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3675888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700" dirty="0"/>
          </a:p>
        </p:txBody>
      </p:sp>
      <p:sp>
        <p:nvSpPr>
          <p:cNvPr id="14" name="Shape 11"/>
          <p:cNvSpPr/>
          <p:nvPr/>
        </p:nvSpPr>
        <p:spPr>
          <a:xfrm>
            <a:off x="4096512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15" name="Text 12"/>
          <p:cNvSpPr/>
          <p:nvPr/>
        </p:nvSpPr>
        <p:spPr>
          <a:xfrm>
            <a:off x="2962656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SELECT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2871216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선택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2916936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Market 1000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2000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980176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700" dirty="0"/>
          </a:p>
        </p:txBody>
      </p:sp>
      <p:sp>
        <p:nvSpPr>
          <p:cNvPr id="19" name="Shape 16"/>
          <p:cNvSpPr/>
          <p:nvPr/>
        </p:nvSpPr>
        <p:spPr>
          <a:xfrm>
            <a:off x="6400800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0" name="Text 17"/>
          <p:cNvSpPr/>
          <p:nvPr/>
        </p:nvSpPr>
        <p:spPr>
          <a:xfrm>
            <a:off x="5266944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POLICY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5175504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 전 승인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221224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URL·mint·금액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상한 재검증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8284464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A86A1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</a:t>
            </a:r>
            <a:endParaRPr lang="en-US" sz="700" dirty="0"/>
          </a:p>
        </p:txBody>
      </p:sp>
      <p:sp>
        <p:nvSpPr>
          <p:cNvPr id="24" name="Shape 21"/>
          <p:cNvSpPr/>
          <p:nvPr/>
        </p:nvSpPr>
        <p:spPr>
          <a:xfrm>
            <a:off x="8705088" y="2688336"/>
            <a:ext cx="1417320" cy="0"/>
          </a:xfrm>
          <a:prstGeom prst="line">
            <a:avLst/>
          </a:prstGeom>
          <a:noFill/>
          <a:ln w="1270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25" name="Text 22"/>
          <p:cNvSpPr/>
          <p:nvPr/>
        </p:nvSpPr>
        <p:spPr>
          <a:xfrm>
            <a:off x="7571232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PAY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7479792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결제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7525512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Devnet USDC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transactions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10588752" y="2514600"/>
            <a:ext cx="347472" cy="347472"/>
          </a:xfrm>
          <a:prstGeom prst="ellipse">
            <a:avLst/>
          </a:prstGeom>
          <a:solidFill>
            <a:srgbClr val="F0EDE4"/>
          </a:solidFill>
          <a:ln w="15240">
            <a:solidFill>
              <a:srgbClr val="08664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9875520" y="310896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PROVE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9784080" y="3392424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근거 보고서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9829800" y="3822192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snapshot + receipt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caveat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58368" y="4855464"/>
            <a:ext cx="10863072" cy="713232"/>
          </a:xfrm>
          <a:prstGeom prst="rect">
            <a:avLst>
              <a:gd name="adj" fmla="val 5128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96112" y="5074920"/>
            <a:ext cx="1325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MODEL OUTPUT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2331720" y="49651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상품 · 관련성 · 가격 · 짧은 선택 이유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6428232" y="5074920"/>
            <a:ext cx="1097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NOT EXPOSED</a:t>
            </a:r>
            <a:endParaRPr lang="en-US" sz="750" dirty="0"/>
          </a:p>
        </p:txBody>
      </p:sp>
      <p:sp>
        <p:nvSpPr>
          <p:cNvPr id="36" name="Text 33"/>
          <p:cNvSpPr/>
          <p:nvPr/>
        </p:nvSpPr>
        <p:spPr>
          <a:xfrm>
            <a:off x="7543800" y="496519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chain-of-thought · key · arbitrary URL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04 / EXPERIENCE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채팅창 대신, 구매 결정을 읽는 조달 데스크.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 Run live run — Gemini 선택, 정책 승인, Devnet 결제, 영수증을 한 화면에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pic>
        <p:nvPicPr>
          <p:cNvPr id="8" name="Image 1" descr="C:\PROJECT\구글 클라우드 X 솔라나 AI Agentic 해커톤 지원\artifacts\qa\desktop-live-completed.png">    </p:cNvPr>
          <p:cNvPicPr>
            <a:picLocks noChangeAspect="1"/>
          </p:cNvPicPr>
          <p:nvPr/>
        </p:nvPicPr>
        <p:blipFill>
          <a:blip r:embed="rId3"/>
          <a:srcRect l="0" r="0" t="8941" b="8941"/>
          <a:stretch/>
        </p:blipFill>
        <p:spPr>
          <a:xfrm>
            <a:off x="640080" y="2414016"/>
            <a:ext cx="7498080" cy="3465576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40080" y="2414016"/>
            <a:ext cx="7498080" cy="3465576"/>
          </a:xfrm>
          <a:prstGeom prst="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111A16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41248" y="2578608"/>
            <a:ext cx="1627632" cy="219456"/>
          </a:xfrm>
          <a:prstGeom prst="rect">
            <a:avLst/>
          </a:prstGeom>
          <a:solidFill>
            <a:srgbClr val="DDEBE5"/>
          </a:solidFill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/ COMPLETED</a:t>
            </a:r>
            <a:endParaRPr lang="en-US" sz="700" dirty="0"/>
          </a:p>
        </p:txBody>
      </p:sp>
      <p:sp>
        <p:nvSpPr>
          <p:cNvPr id="11" name="Text 7"/>
          <p:cNvSpPr/>
          <p:nvPr/>
        </p:nvSpPr>
        <p:spPr>
          <a:xfrm>
            <a:off x="8458200" y="2459736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01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887968" y="2441448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Timeline first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458200" y="2788920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탐색 → 이유 → 정책 → 결제 → 수령을 같은 축에서 확인</a:t>
            </a:r>
            <a:endParaRPr lang="en-US" sz="920" dirty="0"/>
          </a:p>
        </p:txBody>
      </p:sp>
      <p:sp>
        <p:nvSpPr>
          <p:cNvPr id="14" name="Shape 10"/>
          <p:cNvSpPr/>
          <p:nvPr/>
        </p:nvSpPr>
        <p:spPr>
          <a:xfrm>
            <a:off x="8458200" y="3410712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58200" y="3575304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02</a:t>
            </a:r>
            <a:endParaRPr lang="en-US" sz="800" dirty="0"/>
          </a:p>
        </p:txBody>
      </p:sp>
      <p:sp>
        <p:nvSpPr>
          <p:cNvPr id="16" name="Text 12"/>
          <p:cNvSpPr/>
          <p:nvPr/>
        </p:nvSpPr>
        <p:spPr>
          <a:xfrm>
            <a:off x="8887968" y="3557016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Spend always visible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8458200" y="3904488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지출, 남은 상한, 영수증을 decision 옆에 고정</a:t>
            </a:r>
            <a:endParaRPr lang="en-US" sz="920" dirty="0"/>
          </a:p>
        </p:txBody>
      </p:sp>
      <p:sp>
        <p:nvSpPr>
          <p:cNvPr id="18" name="Shape 14"/>
          <p:cNvSpPr/>
          <p:nvPr/>
        </p:nvSpPr>
        <p:spPr>
          <a:xfrm>
            <a:off x="8458200" y="4526280"/>
            <a:ext cx="2761488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8458200" y="4690872"/>
            <a:ext cx="3474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6"/>
          <p:cNvSpPr/>
          <p:nvPr/>
        </p:nvSpPr>
        <p:spPr>
          <a:xfrm>
            <a:off x="8887968" y="4672584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Failure is a state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8458200" y="5020056"/>
            <a:ext cx="27432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2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denied·unavailable·reconciling·timeout을 명시적으로 복구</a:t>
            </a:r>
            <a:endParaRPr lang="en-US" sz="920" dirty="0"/>
          </a:p>
        </p:txBody>
      </p:sp>
      <p:sp>
        <p:nvSpPr>
          <p:cNvPr id="22" name="Shape 1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05 / ARCHITECTURE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서비스, 세 개의 권한 경계.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Cloud Run이 UI·agent API·paid data API를 소유하고, 키는 Secret Manager에만 존재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87168"/>
            <a:ext cx="2980944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697480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DECIDE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68680" y="2990088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Vertex AI + Google ADK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886968" y="3694176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42416" y="3611880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gemini-3.5-flash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886968" y="4023360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42416" y="3941064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structured selection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86968" y="4352544"/>
            <a:ext cx="73152" cy="73152"/>
          </a:xfrm>
          <a:prstGeom prst="ellipse">
            <a:avLst/>
          </a:prstGeom>
          <a:solidFill>
            <a:srgbClr val="08664B"/>
          </a:solidFill>
          <a:ln w="12700">
            <a:solidFill>
              <a:srgbClr val="08664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42416" y="4270248"/>
            <a:ext cx="23408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purchased-evidence synthesis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968496" y="2487168"/>
            <a:ext cx="423367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111A16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178808" y="2697480"/>
            <a:ext cx="3813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CONTROL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4178808" y="2990088"/>
            <a:ext cx="38130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policy + Firestore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197096" y="3694176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352544" y="3611880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fixed catalog / BigInt limits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197096" y="4023360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52544" y="3941064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transactional reservation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4197096" y="4352544"/>
            <a:ext cx="73152" cy="73152"/>
          </a:xfrm>
          <a:prstGeom prst="ellipse">
            <a:avLst/>
          </a:prstGeom>
          <a:solidFill>
            <a:srgbClr val="111A16"/>
          </a:solidFill>
          <a:ln w="12700">
            <a:solidFill>
              <a:srgbClr val="111A16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352544" y="4270248"/>
            <a:ext cx="3593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events · payments · quota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8531352" y="2487168"/>
            <a:ext cx="2999232" cy="2377440"/>
          </a:xfrm>
          <a:prstGeom prst="rect">
            <a:avLst>
              <a:gd name="adj" fmla="val 1538"/>
            </a:avLst>
          </a:prstGeom>
          <a:solidFill>
            <a:srgbClr val="F8F5ED"/>
          </a:solidFill>
          <a:ln w="13970">
            <a:solidFill>
              <a:srgbClr val="A86A1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741664" y="2697480"/>
            <a:ext cx="2578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8741664" y="2990088"/>
            <a:ext cx="2578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x402 + Solana Devnet</a:t>
            </a:r>
            <a:endParaRPr lang="en-US" sz="1500" dirty="0"/>
          </a:p>
        </p:txBody>
      </p:sp>
      <p:sp>
        <p:nvSpPr>
          <p:cNvPr id="29" name="Shape 26"/>
          <p:cNvSpPr/>
          <p:nvPr/>
        </p:nvSpPr>
        <p:spPr>
          <a:xfrm>
            <a:off x="8759952" y="3694176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915400" y="3611880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buyer + protected seller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8759952" y="4023360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915400" y="3941064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payment-identifier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8759952" y="4352544"/>
            <a:ext cx="73152" cy="73152"/>
          </a:xfrm>
          <a:prstGeom prst="ellipse">
            <a:avLst/>
          </a:prstGeom>
          <a:solidFill>
            <a:srgbClr val="A86A10"/>
          </a:solidFill>
          <a:ln w="12700">
            <a:solidFill>
              <a:srgbClr val="A86A1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915400" y="4270248"/>
            <a:ext cx="23591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Circle test USDC receipt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675888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6" name="Shape 33"/>
          <p:cNvSpPr/>
          <p:nvPr/>
        </p:nvSpPr>
        <p:spPr>
          <a:xfrm>
            <a:off x="8220456" y="3685032"/>
            <a:ext cx="283464" cy="0"/>
          </a:xfrm>
          <a:prstGeom prst="line">
            <a:avLst/>
          </a:prstGeom>
          <a:noFill/>
          <a:ln w="15240">
            <a:solidFill>
              <a:srgbClr val="9AA8A1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1389888" y="5166360"/>
            <a:ext cx="9418320" cy="530352"/>
          </a:xfrm>
          <a:prstGeom prst="rect">
            <a:avLst>
              <a:gd name="adj" fmla="val 6897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627632" y="5340096"/>
            <a:ext cx="18836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PRE-PAYMENT SNAPSHOT</a:t>
            </a:r>
            <a:endParaRPr lang="en-US" sz="720" dirty="0"/>
          </a:p>
        </p:txBody>
      </p:sp>
      <p:sp>
        <p:nvSpPr>
          <p:cNvPr id="39" name="Text 36"/>
          <p:cNvSpPr/>
          <p:nvPr/>
        </p:nvSpPr>
        <p:spPr>
          <a:xfrm>
            <a:off x="3566160" y="5221224"/>
            <a:ext cx="67482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CoinGecko + GitHub → snapshotId 고정 → 결제 후 동일 payload 반환</a:t>
            </a:r>
            <a:endParaRPr lang="en-US" sz="1150" dirty="0"/>
          </a:p>
        </p:txBody>
      </p:sp>
      <p:sp>
        <p:nvSpPr>
          <p:cNvPr id="40" name="Shape 37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06 / SAFETY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안전은 프롬프트가 아니라 불변식으로 구현했습니다.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제안은 hypothesis, 결제 정책은 code-owned contract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58368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ALLOWLIST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1865376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products only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865376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모델은 URL·network·mint·payee·price를 만들 수 없음</a:t>
            </a:r>
            <a:endParaRPr lang="en-US" sz="880" dirty="0"/>
          </a:p>
        </p:txBody>
      </p:sp>
      <p:sp>
        <p:nvSpPr>
          <p:cNvPr id="11" name="Shape 8"/>
          <p:cNvSpPr/>
          <p:nvPr/>
        </p:nvSpPr>
        <p:spPr>
          <a:xfrm>
            <a:off x="658368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163056" y="243230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ATOMIC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7370064" y="239572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BigInt money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370064" y="275234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6자리 atomic string, purchase 4000 / run 10000 / daily 250000</a:t>
            </a:r>
            <a:endParaRPr lang="en-US" sz="880" dirty="0"/>
          </a:p>
        </p:txBody>
      </p:sp>
      <p:sp>
        <p:nvSpPr>
          <p:cNvPr id="15" name="Shape 12"/>
          <p:cNvSpPr/>
          <p:nvPr/>
        </p:nvSpPr>
        <p:spPr>
          <a:xfrm>
            <a:off x="6163056" y="325526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IDEMPOTENCY</a:t>
            </a:r>
            <a:endParaRPr lang="en-US" sz="700" dirty="0"/>
          </a:p>
        </p:txBody>
      </p:sp>
      <p:sp>
        <p:nvSpPr>
          <p:cNvPr id="17" name="Text 14"/>
          <p:cNvSpPr/>
          <p:nvPr/>
        </p:nvSpPr>
        <p:spPr>
          <a:xfrm>
            <a:off x="1865376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One payment fingerprint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865376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payment ID가 다른 요청에 재사용되면 transaction에서 거부</a:t>
            </a:r>
            <a:endParaRPr lang="en-US" sz="880" dirty="0"/>
          </a:p>
        </p:txBody>
      </p:sp>
      <p:sp>
        <p:nvSpPr>
          <p:cNvPr id="19" name="Shape 16"/>
          <p:cNvSpPr/>
          <p:nvPr/>
        </p:nvSpPr>
        <p:spPr>
          <a:xfrm>
            <a:off x="658368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63056" y="348386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A86A10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RECONCILE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7370064" y="344728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 blind retry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370064" y="380390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서명 후 상태 불명은 reservation을 유지하고 Explorer 확인</a:t>
            </a:r>
            <a:endParaRPr lang="en-US" sz="880" dirty="0"/>
          </a:p>
        </p:txBody>
      </p:sp>
      <p:sp>
        <p:nvSpPr>
          <p:cNvPr id="23" name="Shape 20"/>
          <p:cNvSpPr/>
          <p:nvPr/>
        </p:nvSpPr>
        <p:spPr>
          <a:xfrm>
            <a:off x="6163056" y="430682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SECRET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1865376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Server-side signer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865376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키는 Secret Manager → Cloud Run에만 주입, Gemini·브라우저에는 없음</a:t>
            </a:r>
            <a:endParaRPr lang="en-US" sz="880" dirty="0"/>
          </a:p>
        </p:txBody>
      </p:sp>
      <p:sp>
        <p:nvSpPr>
          <p:cNvPr id="27" name="Shape 24"/>
          <p:cNvSpPr/>
          <p:nvPr/>
        </p:nvSpPr>
        <p:spPr>
          <a:xfrm>
            <a:off x="658368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163056" y="4535424"/>
            <a:ext cx="11247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INJECTION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7370064" y="4498848"/>
            <a:ext cx="190195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Untrusted evidence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7370064" y="4855464"/>
            <a:ext cx="38221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숫자 중심 normalization, catalog/data 안의 지시는 무시</a:t>
            </a:r>
            <a:endParaRPr lang="en-US" sz="880" dirty="0"/>
          </a:p>
        </p:txBody>
      </p:sp>
      <p:sp>
        <p:nvSpPr>
          <p:cNvPr id="31" name="Shape 28"/>
          <p:cNvSpPr/>
          <p:nvPr/>
        </p:nvSpPr>
        <p:spPr>
          <a:xfrm>
            <a:off x="6163056" y="5358384"/>
            <a:ext cx="507492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58368" y="5596128"/>
            <a:ext cx="10863072" cy="411480"/>
          </a:xfrm>
          <a:prstGeom prst="rect">
            <a:avLst>
              <a:gd name="adj" fmla="val 8889"/>
            </a:avLst>
          </a:prstGeom>
          <a:solidFill>
            <a:srgbClr val="F2DDD7"/>
          </a:solidFill>
          <a:ln w="10160">
            <a:solidFill>
              <a:srgbClr val="B43B2D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68680" y="5705856"/>
            <a:ext cx="1143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B43B2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MVP excludes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2057400" y="5641848"/>
            <a:ext cx="9006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3B2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mainnet · real funds · arbitrary seller · login · subscription · multi-agent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6928" y="338328"/>
            <a:ext cx="438912" cy="43891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97280" y="292608"/>
            <a:ext cx="1325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621792" y="94183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07 / EVIDENCE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621792" y="1197864"/>
            <a:ext cx="10927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번의 구매, 두 개의 공개 영수증.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744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https://rein-vvwpcipqca-du.a.run.app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621792" y="2130552"/>
            <a:ext cx="10927080" cy="0"/>
          </a:xfrm>
          <a:prstGeom prst="line">
            <a:avLst/>
          </a:prstGeom>
          <a:noFill/>
          <a:ln w="10160">
            <a:solidFill>
              <a:srgbClr val="9AA8A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8368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9536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0" name="Text 7"/>
          <p:cNvSpPr/>
          <p:nvPr/>
        </p:nvSpPr>
        <p:spPr>
          <a:xfrm>
            <a:off x="859536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Market snapshot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453128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0.001 USDC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59536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2NuicT57mQD1Uu5yumPnubCkrdSVHQUegbxLEBsDtpdVTTjw5dTdyB3QpH9t7VZLGnyQyNV9DySA9xWMY9YMpArw</a:t>
            </a:r>
            <a:endParaRPr lang="en-US" sz="710" dirty="0"/>
          </a:p>
        </p:txBody>
      </p:sp>
      <p:sp>
        <p:nvSpPr>
          <p:cNvPr id="13" name="Shape 10"/>
          <p:cNvSpPr/>
          <p:nvPr/>
        </p:nvSpPr>
        <p:spPr>
          <a:xfrm>
            <a:off x="6300216" y="2468880"/>
            <a:ext cx="5230368" cy="1207008"/>
          </a:xfrm>
          <a:prstGeom prst="rect">
            <a:avLst>
              <a:gd name="adj" fmla="val 3030"/>
            </a:avLst>
          </a:prstGeom>
          <a:solidFill>
            <a:srgbClr val="F8F5ED"/>
          </a:solidFill>
          <a:ln w="13970">
            <a:solidFill>
              <a:srgbClr val="08664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01384" y="2633472"/>
            <a:ext cx="2057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SETTLED / DEVNET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6501384" y="2889504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 health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0094976" y="2633472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A16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0.002 USDC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501384" y="3291840"/>
            <a:ext cx="47823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1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3vpyu3DsDvDT2m71kj3Pt5GQ4Ba2jQVYkuFhWL9eTUgiVXwpMiQKpbtjSPKaV5J5K3cpff6726kXT8p5Ui6gbcGR</a:t>
            </a:r>
            <a:endParaRPr lang="en-US" sz="710" dirty="0"/>
          </a:p>
        </p:txBody>
      </p:sp>
      <p:sp>
        <p:nvSpPr>
          <p:cNvPr id="18" name="Text 15"/>
          <p:cNvSpPr/>
          <p:nvPr/>
        </p:nvSpPr>
        <p:spPr>
          <a:xfrm>
            <a:off x="676656" y="4041648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LIVE DEVNET EVIDENCE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65836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48</a:t>
            </a:r>
            <a:endParaRPr lang="en-US" sz="2700" dirty="0"/>
          </a:p>
        </p:txBody>
      </p:sp>
      <p:sp>
        <p:nvSpPr>
          <p:cNvPr id="20" name="Text 17"/>
          <p:cNvSpPr/>
          <p:nvPr/>
        </p:nvSpPr>
        <p:spPr>
          <a:xfrm>
            <a:off x="148132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unit tests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48132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amount·policy·quota·agent eval·failure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36168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08</a:t>
            </a:r>
            <a:endParaRPr lang="en-US" sz="2700" dirty="0"/>
          </a:p>
        </p:txBody>
      </p:sp>
      <p:sp>
        <p:nvSpPr>
          <p:cNvPr id="23" name="Text 20"/>
          <p:cNvSpPr/>
          <p:nvPr/>
        </p:nvSpPr>
        <p:spPr>
          <a:xfrm>
            <a:off x="518464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browser tests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518464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desktop + Pixel 7 + 402 + SSE reconnect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65008" y="4370832"/>
            <a:ext cx="749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09</a:t>
            </a:r>
            <a:endParaRPr lang="en-US" sz="2700" dirty="0"/>
          </a:p>
        </p:txBody>
      </p:sp>
      <p:sp>
        <p:nvSpPr>
          <p:cNvPr id="26" name="Text 23"/>
          <p:cNvSpPr/>
          <p:nvPr/>
        </p:nvSpPr>
        <p:spPr>
          <a:xfrm>
            <a:off x="8887968" y="4425696"/>
            <a:ext cx="2103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compiled routes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887968" y="47548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Next.js production build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658368" y="5431536"/>
            <a:ext cx="10863072" cy="457200"/>
          </a:xfrm>
          <a:prstGeom prst="rect">
            <a:avLst>
              <a:gd name="adj" fmla="val 8000"/>
            </a:avLst>
          </a:prstGeom>
          <a:solidFill>
            <a:srgbClr val="DDEBE5"/>
          </a:solidFill>
          <a:ln w="10160">
            <a:solidFill>
              <a:srgbClr val="08664B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77824" y="5559552"/>
            <a:ext cx="960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PASS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1874520" y="5486400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Explorer에서 network·mint·payee·amount를 검증했습니다.</a:t>
            </a:r>
            <a:endParaRPr lang="en-US" sz="1070" dirty="0"/>
          </a:p>
        </p:txBody>
      </p:sp>
      <p:sp>
        <p:nvSpPr>
          <p:cNvPr id="31" name="Shape 28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GCP x SOLANA AI AGENTIC HACKATHON / 2026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94944" y="557784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399032" y="50292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REIN/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694944" y="1508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8664B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WHY NOW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658368" y="1810512"/>
            <a:ext cx="717804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에이전트 커머스의 다음 UX는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111A1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‘살 수 있음’이 아니라 ‘증명 가능한 구매’입니다.</a:t>
            </a:r>
            <a:endParaRPr lang="en-US" sz="3100" dirty="0"/>
          </a:p>
        </p:txBody>
      </p:sp>
      <p:sp>
        <p:nvSpPr>
          <p:cNvPr id="6" name="Text 3"/>
          <p:cNvSpPr/>
          <p:nvPr/>
        </p:nvSpPr>
        <p:spPr>
          <a:xfrm>
            <a:off x="694944" y="34290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2645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REIN은 작은 고정 카탈로그에서 시작하지만, 같은 contract를 리서치 API, B2B 데이터, 모델·툴 조달로 확장할 수 있습니다.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8028432" y="1417320"/>
            <a:ext cx="3310128" cy="4059936"/>
          </a:xfrm>
          <a:prstGeom prst="rect">
            <a:avLst>
              <a:gd name="adj" fmla="val 1105"/>
            </a:avLst>
          </a:prstGeom>
          <a:solidFill>
            <a:srgbClr val="111A16"/>
          </a:solidFill>
          <a:ln w="10160">
            <a:solidFill>
              <a:srgbClr val="111A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339328" y="1746504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SUBMISSION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339328" y="2221992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339328" y="2542032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github.com/jeonsavvy/REIN</a:t>
            </a:r>
            <a:endParaRPr lang="en-US" sz="720" dirty="0"/>
          </a:p>
        </p:txBody>
      </p:sp>
      <p:sp>
        <p:nvSpPr>
          <p:cNvPr id="11" name="Shape 8"/>
          <p:cNvSpPr/>
          <p:nvPr/>
        </p:nvSpPr>
        <p:spPr>
          <a:xfrm>
            <a:off x="8339328" y="296265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339328" y="32461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app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339328" y="356616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1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https://rein-vvwpcipqca-du.a.run.app</a:t>
            </a:r>
            <a:endParaRPr lang="en-US" sz="710" dirty="0"/>
          </a:p>
        </p:txBody>
      </p:sp>
      <p:sp>
        <p:nvSpPr>
          <p:cNvPr id="14" name="Shape 11"/>
          <p:cNvSpPr/>
          <p:nvPr/>
        </p:nvSpPr>
        <p:spPr>
          <a:xfrm>
            <a:off x="8339328" y="4242816"/>
            <a:ext cx="2651760" cy="0"/>
          </a:xfrm>
          <a:prstGeom prst="line">
            <a:avLst/>
          </a:prstGeom>
          <a:noFill/>
          <a:ln w="8890">
            <a:solidFill>
              <a:srgbClr val="52645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339328" y="452628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Video demo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8339328" y="4846320"/>
            <a:ext cx="2514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DDEBE5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≤ 3 min · captions included</a:t>
            </a:r>
            <a:endParaRPr lang="en-US" sz="720" dirty="0"/>
          </a:p>
        </p:txBody>
      </p:sp>
      <p:sp>
        <p:nvSpPr>
          <p:cNvPr id="17" name="Text 14"/>
          <p:cNvSpPr/>
          <p:nvPr/>
        </p:nvSpPr>
        <p:spPr>
          <a:xfrm>
            <a:off x="694944" y="5193792"/>
            <a:ext cx="676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8664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Autonomy, held to proof.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21792" y="6291072"/>
            <a:ext cx="10927080" cy="0"/>
          </a:xfrm>
          <a:prstGeom prst="line">
            <a:avLst/>
          </a:prstGeom>
          <a:noFill/>
          <a:ln w="7620">
            <a:solidFill>
              <a:srgbClr val="D4DAD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21792" y="6419088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2645D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REIN / AGENT-INITIATED COMMERCE</a:t>
            </a:r>
            <a:endParaRPr lang="en-US" sz="6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46520"/>
            <a:ext cx="36576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2645D"/>
                </a:solidFill>
                <a:latin typeface="Cascadia Mono"/>
                <a:ea typeface="Cascadia Mono"/>
                <a:cs typeface="Cascadia Mono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K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REIN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REIN - Autonomy, held to proof</dc:title>
  <dc:subject>Google Cloud x Solana AI Agentic Hackathon submission</dc:subject>
  <dc:creator>REIN</dc:creator>
  <cp:lastModifiedBy>REIN</cp:lastModifiedBy>
  <cp:revision>1</cp:revision>
  <dcterms:created xsi:type="dcterms:W3CDTF">2026-07-21T11:27:24Z</dcterms:created>
  <dcterms:modified xsi:type="dcterms:W3CDTF">2026-07-21T11:27:24Z</dcterms:modified>
</cp:coreProperties>
</file>